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8558f34dcd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8558f34dcd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88720285bf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88720285bf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38558f34dcd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38558f34dcd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388720285bf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388720285bf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388720285bf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388720285bf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388720285bf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388720285bf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88720285bf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388720285bf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8558f34dcd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38558f34dcd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8558f34dcd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38558f34dcd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8558f34dcd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38558f34dcd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8558f34dcd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38558f34dcd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id"/>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id"/>
              <a:t>	Pitch Deck</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3645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id">
                <a:latin typeface="Times New Roman"/>
                <a:ea typeface="Times New Roman"/>
                <a:cs typeface="Times New Roman"/>
                <a:sym typeface="Times New Roman"/>
              </a:rPr>
              <a:t>Problem Statement</a:t>
            </a:r>
            <a:endParaRPr b="1">
              <a:latin typeface="Times New Roman"/>
              <a:ea typeface="Times New Roman"/>
              <a:cs typeface="Times New Roman"/>
              <a:sym typeface="Times New Roman"/>
            </a:endParaRPr>
          </a:p>
        </p:txBody>
      </p:sp>
      <p:sp>
        <p:nvSpPr>
          <p:cNvPr id="61" name="Google Shape;61;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Clr>
                <a:schemeClr val="dk1"/>
              </a:buClr>
              <a:buSzPts val="1100"/>
              <a:buFont typeface="Arial"/>
              <a:buNone/>
            </a:pPr>
            <a:r>
              <a:rPr lang="id" sz="1200">
                <a:solidFill>
                  <a:schemeClr val="dk1"/>
                </a:solidFill>
                <a:latin typeface="Times New Roman"/>
                <a:ea typeface="Times New Roman"/>
                <a:cs typeface="Times New Roman"/>
                <a:sym typeface="Times New Roman"/>
              </a:rPr>
              <a:t>Meskipun perusahaan memiliki basis pelanggan yang stabil dan sebagian besar pelanggan loyal tidak bergantung pada diskon, </a:t>
            </a:r>
            <a:r>
              <a:rPr b="1" lang="id" sz="1200">
                <a:solidFill>
                  <a:schemeClr val="dk1"/>
                </a:solidFill>
                <a:latin typeface="Times New Roman"/>
                <a:ea typeface="Times New Roman"/>
                <a:cs typeface="Times New Roman"/>
                <a:sym typeface="Times New Roman"/>
              </a:rPr>
              <a:t>program loyalitas saat ini menunjukkan kinerja yang kontra-produktif, di mana anggotanya justru memiliki rata-rata nilai dan frekuensi pembelian yang lebih rendah dibandingkan non-anggota.</a:t>
            </a:r>
            <a:endParaRPr b="1" sz="1200">
              <a:solidFill>
                <a:schemeClr val="dk1"/>
              </a:solidFill>
              <a:latin typeface="Times New Roman"/>
              <a:ea typeface="Times New Roman"/>
              <a:cs typeface="Times New Roman"/>
              <a:sym typeface="Times New Roman"/>
            </a:endParaRPr>
          </a:p>
          <a:p>
            <a:pPr indent="0" lvl="0" marL="0" rtl="0" algn="l">
              <a:spcBef>
                <a:spcPts val="1200"/>
              </a:spcBef>
              <a:spcAft>
                <a:spcPts val="0"/>
              </a:spcAft>
              <a:buClr>
                <a:schemeClr val="dk1"/>
              </a:buClr>
              <a:buSzPts val="1100"/>
              <a:buFont typeface="Arial"/>
              <a:buNone/>
            </a:pPr>
            <a:r>
              <a:rPr lang="id" sz="1200">
                <a:solidFill>
                  <a:schemeClr val="dk1"/>
                </a:solidFill>
                <a:latin typeface="Times New Roman"/>
                <a:ea typeface="Times New Roman"/>
                <a:cs typeface="Times New Roman"/>
                <a:sym typeface="Times New Roman"/>
              </a:rPr>
              <a:t>Selain itu, </a:t>
            </a:r>
            <a:r>
              <a:rPr b="1" lang="id" sz="1200">
                <a:solidFill>
                  <a:schemeClr val="dk1"/>
                </a:solidFill>
                <a:latin typeface="Times New Roman"/>
                <a:ea typeface="Times New Roman"/>
                <a:cs typeface="Times New Roman"/>
                <a:sym typeface="Times New Roman"/>
              </a:rPr>
              <a:t>perusahaan belum sepenuhnya mengoptimalkan potensi pelanggan omnichannel yang paling berharga</a:t>
            </a:r>
            <a:r>
              <a:rPr lang="id" sz="1200">
                <a:solidFill>
                  <a:schemeClr val="dk1"/>
                </a:solidFill>
                <a:latin typeface="Times New Roman"/>
                <a:ea typeface="Times New Roman"/>
                <a:cs typeface="Times New Roman"/>
                <a:sym typeface="Times New Roman"/>
              </a:rPr>
              <a:t> (dengan pengeluaran tertinggi) dan menghadapi tantangan dalam </a:t>
            </a:r>
            <a:r>
              <a:rPr b="1" lang="id" sz="1200">
                <a:solidFill>
                  <a:schemeClr val="dk1"/>
                </a:solidFill>
                <a:latin typeface="Times New Roman"/>
                <a:ea typeface="Times New Roman"/>
                <a:cs typeface="Times New Roman"/>
                <a:sym typeface="Times New Roman"/>
              </a:rPr>
              <a:t>menyelaraskan strategi pemasaran dan operasional secara efektif di pasar-pasar kunci</a:t>
            </a:r>
            <a:r>
              <a:rPr lang="id" sz="1200">
                <a:solidFill>
                  <a:schemeClr val="dk1"/>
                </a:solidFill>
                <a:latin typeface="Times New Roman"/>
                <a:ea typeface="Times New Roman"/>
                <a:cs typeface="Times New Roman"/>
                <a:sym typeface="Times New Roman"/>
              </a:rPr>
              <a:t> berdasarkan distribusi geografis dan perilaku belanja yang berbeda antar saluran.</a:t>
            </a:r>
            <a:endParaRPr sz="1200">
              <a:solidFill>
                <a:schemeClr val="dk1"/>
              </a:solidFill>
              <a:latin typeface="Times New Roman"/>
              <a:ea typeface="Times New Roman"/>
              <a:cs typeface="Times New Roman"/>
              <a:sym typeface="Times New Roman"/>
            </a:endParaRPr>
          </a:p>
          <a:p>
            <a:pPr indent="0" lvl="0" marL="0" rtl="0" algn="l">
              <a:spcBef>
                <a:spcPts val="1200"/>
              </a:spcBef>
              <a:spcAft>
                <a:spcPts val="0"/>
              </a:spcAft>
              <a:buClr>
                <a:schemeClr val="dk1"/>
              </a:buClr>
              <a:buSzPts val="1100"/>
              <a:buFont typeface="Arial"/>
              <a:buNone/>
            </a:pPr>
            <a:r>
              <a:rPr lang="id" sz="1200">
                <a:solidFill>
                  <a:schemeClr val="dk1"/>
                </a:solidFill>
                <a:latin typeface="Times New Roman"/>
                <a:ea typeface="Times New Roman"/>
                <a:cs typeface="Times New Roman"/>
                <a:sym typeface="Times New Roman"/>
              </a:rPr>
              <a:t>Ini menghambat pertumbuhan potensi nilai pelanggan, efisiensi pemasaran, dan ROI dari investasi program loyalitas, sehingga memerlukan restrukturisasi program loyalitas, integrasi pengalaman omnichannel yang lebih baik, dan strategi yang lebih terfokus secara geografis untuk memaksimalkan keuntungan dan kepuasan pelanggan.</a:t>
            </a:r>
            <a:endParaRPr sz="1200">
              <a:solidFill>
                <a:schemeClr val="dk1"/>
              </a:solidFill>
              <a:latin typeface="Times New Roman"/>
              <a:ea typeface="Times New Roman"/>
              <a:cs typeface="Times New Roman"/>
              <a:sym typeface="Times New Roman"/>
            </a:endParaRPr>
          </a:p>
          <a:p>
            <a:pPr indent="0" lvl="0" marL="0" rtl="0" algn="l">
              <a:spcBef>
                <a:spcPts val="1200"/>
              </a:spcBef>
              <a:spcAft>
                <a:spcPts val="1200"/>
              </a:spcAft>
              <a:buNone/>
            </a:pPr>
            <a:r>
              <a:t/>
            </a:r>
            <a:endParaRPr sz="1200">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174075" y="2800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Dashboard E-Commerce</a:t>
            </a:r>
            <a:endParaRPr/>
          </a:p>
        </p:txBody>
      </p:sp>
      <p:sp>
        <p:nvSpPr>
          <p:cNvPr id="67" name="Google Shape;67;p15"/>
          <p:cNvSpPr txBox="1"/>
          <p:nvPr>
            <p:ph idx="1" type="body"/>
          </p:nvPr>
        </p:nvSpPr>
        <p:spPr>
          <a:xfrm>
            <a:off x="5314125" y="1005700"/>
            <a:ext cx="3380400" cy="3741300"/>
          </a:xfrm>
          <a:prstGeom prst="rect">
            <a:avLst/>
          </a:prstGeom>
        </p:spPr>
        <p:txBody>
          <a:bodyPr anchorCtr="0" anchor="t" bIns="91425" lIns="91425" spcFirstLastPara="1" rIns="91425" wrap="square" tIns="91425">
            <a:normAutofit fontScale="62500" lnSpcReduction="10000"/>
          </a:bodyPr>
          <a:lstStyle/>
          <a:p>
            <a:pPr indent="0" lvl="0" marL="0" rtl="0" algn="l">
              <a:spcBef>
                <a:spcPts val="1200"/>
              </a:spcBef>
              <a:spcAft>
                <a:spcPts val="0"/>
              </a:spcAft>
              <a:buClr>
                <a:schemeClr val="dk1"/>
              </a:buClr>
              <a:buSzPct val="80181"/>
              <a:buFont typeface="Arial"/>
              <a:buNone/>
            </a:pPr>
            <a:r>
              <a:rPr b="1" lang="id" sz="1371">
                <a:solidFill>
                  <a:schemeClr val="dk1"/>
                </a:solidFill>
                <a:latin typeface="Times New Roman"/>
                <a:ea typeface="Times New Roman"/>
                <a:cs typeface="Times New Roman"/>
                <a:sym typeface="Times New Roman"/>
              </a:rPr>
              <a:t>Penjelasan Singkat Panel Utama:</a:t>
            </a:r>
            <a:endParaRPr b="1" sz="1371">
              <a:solidFill>
                <a:schemeClr val="dk1"/>
              </a:solidFill>
              <a:latin typeface="Times New Roman"/>
              <a:ea typeface="Times New Roman"/>
              <a:cs typeface="Times New Roman"/>
              <a:sym typeface="Times New Roman"/>
            </a:endParaRPr>
          </a:p>
          <a:p>
            <a:pPr indent="-283046" lvl="0" marL="457200" rtl="0" algn="l">
              <a:spcBef>
                <a:spcPts val="1200"/>
              </a:spcBef>
              <a:spcAft>
                <a:spcPts val="0"/>
              </a:spcAft>
              <a:buClr>
                <a:schemeClr val="dk1"/>
              </a:buClr>
              <a:buSzPct val="100000"/>
              <a:buChar char="●"/>
            </a:pPr>
            <a:r>
              <a:rPr b="1" lang="id" sz="1371">
                <a:solidFill>
                  <a:schemeClr val="dk1"/>
                </a:solidFill>
                <a:latin typeface="Times New Roman"/>
                <a:ea typeface="Times New Roman"/>
                <a:cs typeface="Times New Roman"/>
                <a:sym typeface="Times New Roman"/>
              </a:rPr>
              <a:t>Total Penjualan &amp; Frekuensi Penjualan</a:t>
            </a:r>
            <a:r>
              <a:rPr lang="id" sz="1371">
                <a:solidFill>
                  <a:schemeClr val="dk1"/>
                </a:solidFill>
                <a:latin typeface="Times New Roman"/>
                <a:ea typeface="Times New Roman"/>
                <a:cs typeface="Times New Roman"/>
                <a:sym typeface="Times New Roman"/>
              </a:rPr>
              <a:t>: Metrik tingkat tinggi yang menunjukkan performa bisnis secara keseluruhan.</a:t>
            </a:r>
            <a:endParaRPr sz="1371">
              <a:solidFill>
                <a:schemeClr val="dk1"/>
              </a:solidFill>
              <a:latin typeface="Times New Roman"/>
              <a:ea typeface="Times New Roman"/>
              <a:cs typeface="Times New Roman"/>
              <a:sym typeface="Times New Roman"/>
            </a:endParaRPr>
          </a:p>
          <a:p>
            <a:pPr indent="-283046" lvl="0" marL="457200" rtl="0" algn="l">
              <a:spcBef>
                <a:spcPts val="0"/>
              </a:spcBef>
              <a:spcAft>
                <a:spcPts val="0"/>
              </a:spcAft>
              <a:buClr>
                <a:schemeClr val="dk1"/>
              </a:buClr>
              <a:buSzPct val="100000"/>
              <a:buChar char="●"/>
            </a:pPr>
            <a:r>
              <a:rPr b="1" lang="id" sz="1371">
                <a:solidFill>
                  <a:schemeClr val="dk1"/>
                </a:solidFill>
                <a:latin typeface="Times New Roman"/>
                <a:ea typeface="Times New Roman"/>
                <a:cs typeface="Times New Roman"/>
                <a:sym typeface="Times New Roman"/>
              </a:rPr>
              <a:t>Geographic &amp; Category Performance</a:t>
            </a:r>
            <a:r>
              <a:rPr lang="id" sz="1371">
                <a:solidFill>
                  <a:schemeClr val="dk1"/>
                </a:solidFill>
                <a:latin typeface="Times New Roman"/>
                <a:ea typeface="Times New Roman"/>
                <a:cs typeface="Times New Roman"/>
                <a:sym typeface="Times New Roman"/>
              </a:rPr>
              <a:t>: Menampilkan distribusi pelanggan berdasarkan lokasi, membantu identifikasi pasar prioritas.</a:t>
            </a:r>
            <a:endParaRPr sz="1371">
              <a:solidFill>
                <a:schemeClr val="dk1"/>
              </a:solidFill>
              <a:latin typeface="Times New Roman"/>
              <a:ea typeface="Times New Roman"/>
              <a:cs typeface="Times New Roman"/>
              <a:sym typeface="Times New Roman"/>
            </a:endParaRPr>
          </a:p>
          <a:p>
            <a:pPr indent="-283046" lvl="0" marL="457200" rtl="0" algn="l">
              <a:spcBef>
                <a:spcPts val="0"/>
              </a:spcBef>
              <a:spcAft>
                <a:spcPts val="0"/>
              </a:spcAft>
              <a:buClr>
                <a:schemeClr val="dk1"/>
              </a:buClr>
              <a:buSzPct val="100000"/>
              <a:buChar char="●"/>
            </a:pPr>
            <a:r>
              <a:rPr b="1" lang="id" sz="1371">
                <a:solidFill>
                  <a:schemeClr val="dk1"/>
                </a:solidFill>
                <a:latin typeface="Times New Roman"/>
                <a:ea typeface="Times New Roman"/>
                <a:cs typeface="Times New Roman"/>
                <a:sym typeface="Times New Roman"/>
              </a:rPr>
              <a:t>Loyalty Program Effectiveness</a:t>
            </a:r>
            <a:r>
              <a:rPr lang="id" sz="1371">
                <a:solidFill>
                  <a:schemeClr val="dk1"/>
                </a:solidFill>
                <a:latin typeface="Times New Roman"/>
                <a:ea typeface="Times New Roman"/>
                <a:cs typeface="Times New Roman"/>
                <a:sym typeface="Times New Roman"/>
              </a:rPr>
              <a:t>: Menunjukkan rasio anggota program loyalitas, mengindikasikan jangkauan program.</a:t>
            </a:r>
            <a:endParaRPr sz="1371">
              <a:solidFill>
                <a:schemeClr val="dk1"/>
              </a:solidFill>
              <a:latin typeface="Times New Roman"/>
              <a:ea typeface="Times New Roman"/>
              <a:cs typeface="Times New Roman"/>
              <a:sym typeface="Times New Roman"/>
            </a:endParaRPr>
          </a:p>
          <a:p>
            <a:pPr indent="-283046" lvl="0" marL="457200" rtl="0" algn="l">
              <a:spcBef>
                <a:spcPts val="0"/>
              </a:spcBef>
              <a:spcAft>
                <a:spcPts val="0"/>
              </a:spcAft>
              <a:buClr>
                <a:schemeClr val="dk1"/>
              </a:buClr>
              <a:buSzPct val="100000"/>
              <a:buChar char="●"/>
            </a:pPr>
            <a:r>
              <a:rPr b="1" lang="id" sz="1371">
                <a:solidFill>
                  <a:schemeClr val="dk1"/>
                </a:solidFill>
                <a:latin typeface="Times New Roman"/>
                <a:ea typeface="Times New Roman"/>
                <a:cs typeface="Times New Roman"/>
                <a:sym typeface="Times New Roman"/>
              </a:rPr>
              <a:t>Channel &amp; Social Media Impact</a:t>
            </a:r>
            <a:r>
              <a:rPr lang="id" sz="1371">
                <a:solidFill>
                  <a:schemeClr val="dk1"/>
                </a:solidFill>
                <a:latin typeface="Times New Roman"/>
                <a:ea typeface="Times New Roman"/>
                <a:cs typeface="Times New Roman"/>
                <a:sym typeface="Times New Roman"/>
              </a:rPr>
              <a:t>: Membandingkan performa antar saluran pembelian (Mixed, Online, In-Store).</a:t>
            </a:r>
            <a:endParaRPr sz="1371">
              <a:solidFill>
                <a:schemeClr val="dk1"/>
              </a:solidFill>
              <a:latin typeface="Times New Roman"/>
              <a:ea typeface="Times New Roman"/>
              <a:cs typeface="Times New Roman"/>
              <a:sym typeface="Times New Roman"/>
            </a:endParaRPr>
          </a:p>
          <a:p>
            <a:pPr indent="-283046" lvl="0" marL="457200" rtl="0" algn="l">
              <a:spcBef>
                <a:spcPts val="0"/>
              </a:spcBef>
              <a:spcAft>
                <a:spcPts val="0"/>
              </a:spcAft>
              <a:buClr>
                <a:schemeClr val="dk1"/>
              </a:buClr>
              <a:buSzPct val="100000"/>
              <a:buChar char="●"/>
            </a:pPr>
            <a:r>
              <a:rPr b="1" lang="id" sz="1371">
                <a:solidFill>
                  <a:schemeClr val="dk1"/>
                </a:solidFill>
                <a:latin typeface="Times New Roman"/>
                <a:ea typeface="Times New Roman"/>
                <a:cs typeface="Times New Roman"/>
                <a:sym typeface="Times New Roman"/>
              </a:rPr>
              <a:t>Purchase Intent &amp; Rating Analysis</a:t>
            </a:r>
            <a:r>
              <a:rPr lang="id" sz="1371">
                <a:solidFill>
                  <a:schemeClr val="dk1"/>
                </a:solidFill>
                <a:latin typeface="Times New Roman"/>
                <a:ea typeface="Times New Roman"/>
                <a:cs typeface="Times New Roman"/>
                <a:sym typeface="Times New Roman"/>
              </a:rPr>
              <a:t>: Menganalisis niat pembelian (Impulsive, Need-based, Wants-based, Planned) dan hubungannya dengan rating kepuasan.</a:t>
            </a:r>
            <a:endParaRPr sz="1371">
              <a:solidFill>
                <a:schemeClr val="dk1"/>
              </a:solidFill>
              <a:latin typeface="Times New Roman"/>
              <a:ea typeface="Times New Roman"/>
              <a:cs typeface="Times New Roman"/>
              <a:sym typeface="Times New Roman"/>
            </a:endParaRPr>
          </a:p>
          <a:p>
            <a:pPr indent="-283046" lvl="0" marL="457200" rtl="0" algn="l">
              <a:spcBef>
                <a:spcPts val="0"/>
              </a:spcBef>
              <a:spcAft>
                <a:spcPts val="0"/>
              </a:spcAft>
              <a:buClr>
                <a:schemeClr val="dk1"/>
              </a:buClr>
              <a:buSzPct val="100000"/>
              <a:buChar char="●"/>
            </a:pPr>
            <a:r>
              <a:rPr b="1" lang="id" sz="1371">
                <a:solidFill>
                  <a:schemeClr val="dk1"/>
                </a:solidFill>
                <a:latin typeface="Times New Roman"/>
                <a:ea typeface="Times New Roman"/>
                <a:cs typeface="Times New Roman"/>
                <a:sym typeface="Times New Roman"/>
              </a:rPr>
              <a:t>High Value Customers Profiling</a:t>
            </a:r>
            <a:r>
              <a:rPr lang="id" sz="1371">
                <a:solidFill>
                  <a:schemeClr val="dk1"/>
                </a:solidFill>
                <a:latin typeface="Times New Roman"/>
                <a:ea typeface="Times New Roman"/>
                <a:cs typeface="Times New Roman"/>
                <a:sym typeface="Times New Roman"/>
              </a:rPr>
              <a:t>: Mengidentifikasi dan memprofilkan pelanggan bernilai tinggi berdasarkan gender.</a:t>
            </a:r>
            <a:endParaRPr sz="1371">
              <a:solidFill>
                <a:schemeClr val="dk1"/>
              </a:solidFill>
              <a:latin typeface="Times New Roman"/>
              <a:ea typeface="Times New Roman"/>
              <a:cs typeface="Times New Roman"/>
              <a:sym typeface="Times New Roman"/>
            </a:endParaRPr>
          </a:p>
          <a:p>
            <a:pPr indent="-283046" lvl="0" marL="457200" rtl="0" algn="l">
              <a:spcBef>
                <a:spcPts val="0"/>
              </a:spcBef>
              <a:spcAft>
                <a:spcPts val="0"/>
              </a:spcAft>
              <a:buClr>
                <a:schemeClr val="dk1"/>
              </a:buClr>
              <a:buSzPct val="100000"/>
              <a:buChar char="●"/>
            </a:pPr>
            <a:r>
              <a:rPr b="1" lang="id" sz="1371">
                <a:solidFill>
                  <a:schemeClr val="dk1"/>
                </a:solidFill>
                <a:latin typeface="Times New Roman"/>
                <a:ea typeface="Times New Roman"/>
                <a:cs typeface="Times New Roman"/>
                <a:sym typeface="Times New Roman"/>
              </a:rPr>
              <a:t>Key Insight &amp; Strategic Planning &amp; Customer Demographics &amp; Segmentation By Filter</a:t>
            </a:r>
            <a:r>
              <a:rPr lang="id" sz="1371">
                <a:solidFill>
                  <a:schemeClr val="dk1"/>
                </a:solidFill>
                <a:latin typeface="Times New Roman"/>
                <a:ea typeface="Times New Roman"/>
                <a:cs typeface="Times New Roman"/>
                <a:sym typeface="Times New Roman"/>
              </a:rPr>
              <a:t>: Bagian ini kemungkinan besar berfungsi sebagai panel kontrol interaktif untuk menyaring dan menganalisis data lebih lanjut berdasarkan demografi dan perilaku pelanggan, serta tempat untuk menampilkan ringkasan insight dan rekomendasi strategis.</a:t>
            </a:r>
            <a:endParaRPr sz="1371">
              <a:solidFill>
                <a:schemeClr val="dk1"/>
              </a:solidFill>
              <a:latin typeface="Times New Roman"/>
              <a:ea typeface="Times New Roman"/>
              <a:cs typeface="Times New Roman"/>
              <a:sym typeface="Times New Roman"/>
            </a:endParaRPr>
          </a:p>
          <a:p>
            <a:pPr indent="0" lvl="0" marL="0" rtl="0" algn="l">
              <a:spcBef>
                <a:spcPts val="1200"/>
              </a:spcBef>
              <a:spcAft>
                <a:spcPts val="1200"/>
              </a:spcAft>
              <a:buNone/>
            </a:pPr>
            <a:r>
              <a:t/>
            </a:r>
            <a:endParaRPr/>
          </a:p>
        </p:txBody>
      </p:sp>
      <p:pic>
        <p:nvPicPr>
          <p:cNvPr id="68" name="Google Shape;68;p15"/>
          <p:cNvPicPr preferRelativeResize="0"/>
          <p:nvPr/>
        </p:nvPicPr>
        <p:blipFill>
          <a:blip r:embed="rId3">
            <a:alphaModFix/>
          </a:blip>
          <a:stretch>
            <a:fillRect/>
          </a:stretch>
        </p:blipFill>
        <p:spPr>
          <a:xfrm>
            <a:off x="174077" y="974300"/>
            <a:ext cx="4999826" cy="37727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Data Insight</a:t>
            </a:r>
            <a:endParaRPr/>
          </a:p>
        </p:txBody>
      </p:sp>
      <p:sp>
        <p:nvSpPr>
          <p:cNvPr id="74" name="Google Shape;74;p16"/>
          <p:cNvSpPr txBox="1"/>
          <p:nvPr>
            <p:ph idx="1" type="body"/>
          </p:nvPr>
        </p:nvSpPr>
        <p:spPr>
          <a:xfrm>
            <a:off x="2968500" y="1152475"/>
            <a:ext cx="5863800" cy="2331000"/>
          </a:xfrm>
          <a:prstGeom prst="rect">
            <a:avLst/>
          </a:prstGeom>
        </p:spPr>
        <p:txBody>
          <a:bodyPr anchorCtr="0" anchor="t" bIns="91425" lIns="91425" spcFirstLastPara="1" rIns="91425" wrap="square" tIns="91425">
            <a:normAutofit/>
          </a:bodyPr>
          <a:lstStyle/>
          <a:p>
            <a:pPr indent="0" lvl="0" marL="0" rtl="0" algn="just">
              <a:spcBef>
                <a:spcPts val="1200"/>
              </a:spcBef>
              <a:spcAft>
                <a:spcPts val="0"/>
              </a:spcAft>
              <a:buNone/>
            </a:pPr>
            <a:r>
              <a:rPr b="1" lang="id" sz="1200">
                <a:solidFill>
                  <a:schemeClr val="dk1"/>
                </a:solidFill>
                <a:latin typeface="Times New Roman"/>
                <a:ea typeface="Times New Roman"/>
                <a:cs typeface="Times New Roman"/>
                <a:sym typeface="Times New Roman"/>
              </a:rPr>
              <a:t>Program Loyalitas: Jangkauan Luas, Efektivitas Perlu Dipertanyakan.</a:t>
            </a:r>
            <a:endParaRPr b="1" sz="1200">
              <a:solidFill>
                <a:schemeClr val="dk1"/>
              </a:solidFill>
              <a:latin typeface="Times New Roman"/>
              <a:ea typeface="Times New Roman"/>
              <a:cs typeface="Times New Roman"/>
              <a:sym typeface="Times New Roman"/>
            </a:endParaRPr>
          </a:p>
          <a:p>
            <a:pPr indent="-304800" lvl="0" marL="457200" rtl="0" algn="just">
              <a:spcBef>
                <a:spcPts val="1200"/>
              </a:spcBef>
              <a:spcAft>
                <a:spcPts val="0"/>
              </a:spcAft>
              <a:buClr>
                <a:schemeClr val="dk1"/>
              </a:buClr>
              <a:buSzPts val="1200"/>
              <a:buChar char="●"/>
            </a:pPr>
            <a:r>
              <a:rPr b="1" lang="id" sz="1200">
                <a:solidFill>
                  <a:schemeClr val="dk1"/>
                </a:solidFill>
                <a:latin typeface="Times New Roman"/>
                <a:ea typeface="Times New Roman"/>
                <a:cs typeface="Times New Roman"/>
                <a:sym typeface="Times New Roman"/>
              </a:rPr>
              <a:t>Insight:</a:t>
            </a:r>
            <a:r>
              <a:rPr lang="id" sz="1200">
                <a:solidFill>
                  <a:schemeClr val="dk1"/>
                </a:solidFill>
                <a:latin typeface="Times New Roman"/>
                <a:ea typeface="Times New Roman"/>
                <a:cs typeface="Times New Roman"/>
                <a:sym typeface="Times New Roman"/>
              </a:rPr>
              <a:t> Lebih dari separuh pelanggan (51.7%) adalah anggota program loyalitas, menunjukkan keberhasilan dalam akuisisi anggota. Namun, program ini belum efektif meningkatkan nilai atau performa transaksi dari para anggotanya, menyiratkan kesenjangan antara akuisisi dan aktivasi.</a:t>
            </a:r>
            <a:endParaRPr sz="1200">
              <a:solidFill>
                <a:schemeClr val="dk1"/>
              </a:solidFill>
              <a:latin typeface="Times New Roman"/>
              <a:ea typeface="Times New Roman"/>
              <a:cs typeface="Times New Roman"/>
              <a:sym typeface="Times New Roman"/>
            </a:endParaRPr>
          </a:p>
          <a:p>
            <a:pPr indent="0" lvl="0" marL="0" rtl="0" algn="just">
              <a:spcBef>
                <a:spcPts val="1200"/>
              </a:spcBef>
              <a:spcAft>
                <a:spcPts val="1200"/>
              </a:spcAft>
              <a:buNone/>
            </a:pPr>
            <a:r>
              <a:t/>
            </a:r>
            <a:endParaRPr b="1" sz="1200">
              <a:solidFill>
                <a:schemeClr val="dk1"/>
              </a:solidFill>
              <a:latin typeface="Times New Roman"/>
              <a:ea typeface="Times New Roman"/>
              <a:cs typeface="Times New Roman"/>
              <a:sym typeface="Times New Roman"/>
            </a:endParaRPr>
          </a:p>
        </p:txBody>
      </p:sp>
      <p:pic>
        <p:nvPicPr>
          <p:cNvPr id="75" name="Google Shape;75;p16"/>
          <p:cNvPicPr preferRelativeResize="0"/>
          <p:nvPr/>
        </p:nvPicPr>
        <p:blipFill>
          <a:blip r:embed="rId3">
            <a:alphaModFix/>
          </a:blip>
          <a:stretch>
            <a:fillRect/>
          </a:stretch>
        </p:blipFill>
        <p:spPr>
          <a:xfrm>
            <a:off x="484925" y="1319200"/>
            <a:ext cx="2095500" cy="25050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Data Insight</a:t>
            </a:r>
            <a:endParaRPr/>
          </a:p>
        </p:txBody>
      </p:sp>
      <p:sp>
        <p:nvSpPr>
          <p:cNvPr id="81" name="Google Shape;81;p17"/>
          <p:cNvSpPr txBox="1"/>
          <p:nvPr>
            <p:ph idx="1" type="body"/>
          </p:nvPr>
        </p:nvSpPr>
        <p:spPr>
          <a:xfrm>
            <a:off x="2968500" y="1152475"/>
            <a:ext cx="5863800" cy="2331000"/>
          </a:xfrm>
          <a:prstGeom prst="rect">
            <a:avLst/>
          </a:prstGeom>
        </p:spPr>
        <p:txBody>
          <a:bodyPr anchorCtr="0" anchor="t" bIns="91425" lIns="91425" spcFirstLastPara="1" rIns="91425" wrap="square" tIns="91425">
            <a:normAutofit/>
          </a:bodyPr>
          <a:lstStyle/>
          <a:p>
            <a:pPr indent="0" lvl="0" marL="0" rtl="0" algn="just">
              <a:spcBef>
                <a:spcPts val="1200"/>
              </a:spcBef>
              <a:spcAft>
                <a:spcPts val="0"/>
              </a:spcAft>
              <a:buNone/>
            </a:pPr>
            <a:r>
              <a:rPr b="1" lang="id" sz="1200">
                <a:solidFill>
                  <a:schemeClr val="dk1"/>
                </a:solidFill>
                <a:latin typeface="Times New Roman"/>
                <a:ea typeface="Times New Roman"/>
                <a:cs typeface="Times New Roman"/>
                <a:sym typeface="Times New Roman"/>
              </a:rPr>
              <a:t>Fokus Geografis untuk Pertumbuhan Optimal:</a:t>
            </a:r>
            <a:endParaRPr b="1" sz="1200">
              <a:solidFill>
                <a:schemeClr val="dk1"/>
              </a:solidFill>
              <a:latin typeface="Times New Roman"/>
              <a:ea typeface="Times New Roman"/>
              <a:cs typeface="Times New Roman"/>
              <a:sym typeface="Times New Roman"/>
            </a:endParaRPr>
          </a:p>
          <a:p>
            <a:pPr indent="-304800" lvl="0" marL="457200" rtl="0" algn="just">
              <a:spcBef>
                <a:spcPts val="1200"/>
              </a:spcBef>
              <a:spcAft>
                <a:spcPts val="0"/>
              </a:spcAft>
              <a:buClr>
                <a:schemeClr val="dk1"/>
              </a:buClr>
              <a:buSzPts val="1200"/>
              <a:buChar char="●"/>
            </a:pPr>
            <a:r>
              <a:rPr b="1" lang="id" sz="1200">
                <a:solidFill>
                  <a:schemeClr val="dk1"/>
                </a:solidFill>
                <a:latin typeface="Times New Roman"/>
                <a:ea typeface="Times New Roman"/>
                <a:cs typeface="Times New Roman"/>
                <a:sym typeface="Times New Roman"/>
              </a:rPr>
              <a:t>Insight:</a:t>
            </a:r>
            <a:r>
              <a:rPr lang="id" sz="1200">
                <a:solidFill>
                  <a:schemeClr val="dk1"/>
                </a:solidFill>
                <a:latin typeface="Times New Roman"/>
                <a:ea typeface="Times New Roman"/>
                <a:cs typeface="Times New Roman"/>
                <a:sym typeface="Times New Roman"/>
              </a:rPr>
              <a:t> Makassar, Jakarta, dan Bandung secara signifikan memimpin dalam jumlah pelanggan.</a:t>
            </a:r>
            <a:endParaRPr sz="1200">
              <a:solidFill>
                <a:schemeClr val="dk1"/>
              </a:solidFill>
              <a:latin typeface="Times New Roman"/>
              <a:ea typeface="Times New Roman"/>
              <a:cs typeface="Times New Roman"/>
              <a:sym typeface="Times New Roman"/>
            </a:endParaRPr>
          </a:p>
          <a:p>
            <a:pPr indent="0" lvl="0" marL="457200" rtl="0" algn="just">
              <a:spcBef>
                <a:spcPts val="1200"/>
              </a:spcBef>
              <a:spcAft>
                <a:spcPts val="0"/>
              </a:spcAft>
              <a:buNone/>
            </a:pPr>
            <a:r>
              <a:t/>
            </a:r>
            <a:endParaRPr sz="1200">
              <a:solidFill>
                <a:schemeClr val="dk1"/>
              </a:solidFill>
              <a:latin typeface="Times New Roman"/>
              <a:ea typeface="Times New Roman"/>
              <a:cs typeface="Times New Roman"/>
              <a:sym typeface="Times New Roman"/>
            </a:endParaRPr>
          </a:p>
          <a:p>
            <a:pPr indent="-304800" lvl="0" marL="457200" rtl="0" algn="just">
              <a:spcBef>
                <a:spcPts val="1200"/>
              </a:spcBef>
              <a:spcAft>
                <a:spcPts val="0"/>
              </a:spcAft>
              <a:buClr>
                <a:schemeClr val="dk1"/>
              </a:buClr>
              <a:buSzPts val="1200"/>
              <a:buChar char="●"/>
            </a:pPr>
            <a:r>
              <a:rPr b="1" lang="id" sz="1200">
                <a:solidFill>
                  <a:schemeClr val="dk1"/>
                </a:solidFill>
                <a:latin typeface="Times New Roman"/>
                <a:ea typeface="Times New Roman"/>
                <a:cs typeface="Times New Roman"/>
                <a:sym typeface="Times New Roman"/>
              </a:rPr>
              <a:t>Implikasi:</a:t>
            </a:r>
            <a:r>
              <a:rPr lang="id" sz="1200">
                <a:solidFill>
                  <a:schemeClr val="dk1"/>
                </a:solidFill>
                <a:latin typeface="Times New Roman"/>
                <a:ea typeface="Times New Roman"/>
                <a:cs typeface="Times New Roman"/>
                <a:sym typeface="Times New Roman"/>
              </a:rPr>
              <a:t> Prioritas investasi sumber daya pemasaran, penjualan, dan operasional harus diarahkan ke tiga kota ini untuk memaksimalkan ROI dan penetrasi pasar.</a:t>
            </a:r>
            <a:endParaRPr b="1" sz="1200">
              <a:solidFill>
                <a:schemeClr val="dk1"/>
              </a:solidFill>
              <a:latin typeface="Times New Roman"/>
              <a:ea typeface="Times New Roman"/>
              <a:cs typeface="Times New Roman"/>
              <a:sym typeface="Times New Roman"/>
            </a:endParaRPr>
          </a:p>
        </p:txBody>
      </p:sp>
      <p:pic>
        <p:nvPicPr>
          <p:cNvPr id="82" name="Google Shape;82;p17"/>
          <p:cNvPicPr preferRelativeResize="0"/>
          <p:nvPr/>
        </p:nvPicPr>
        <p:blipFill>
          <a:blip r:embed="rId3">
            <a:alphaModFix/>
          </a:blip>
          <a:stretch>
            <a:fillRect/>
          </a:stretch>
        </p:blipFill>
        <p:spPr>
          <a:xfrm>
            <a:off x="264125" y="1255275"/>
            <a:ext cx="2663700" cy="2271243"/>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Data Insight</a:t>
            </a:r>
            <a:endParaRPr/>
          </a:p>
        </p:txBody>
      </p:sp>
      <p:sp>
        <p:nvSpPr>
          <p:cNvPr id="88" name="Google Shape;88;p18"/>
          <p:cNvSpPr txBox="1"/>
          <p:nvPr>
            <p:ph idx="1" type="body"/>
          </p:nvPr>
        </p:nvSpPr>
        <p:spPr>
          <a:xfrm>
            <a:off x="2968500" y="1152475"/>
            <a:ext cx="5863800" cy="23310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b="1" lang="id" sz="1200">
                <a:solidFill>
                  <a:schemeClr val="dk1"/>
                </a:solidFill>
                <a:latin typeface="Times New Roman"/>
                <a:ea typeface="Times New Roman"/>
                <a:cs typeface="Times New Roman"/>
                <a:sym typeface="Times New Roman"/>
              </a:rPr>
              <a:t>Kekuatan Omnichannel dan Saluran Digital:</a:t>
            </a:r>
            <a:endParaRPr b="1" sz="1200">
              <a:solidFill>
                <a:schemeClr val="dk1"/>
              </a:solidFill>
              <a:latin typeface="Times New Roman"/>
              <a:ea typeface="Times New Roman"/>
              <a:cs typeface="Times New Roman"/>
              <a:sym typeface="Times New Roman"/>
            </a:endParaRPr>
          </a:p>
          <a:p>
            <a:pPr indent="-304800" lvl="0" marL="457200" rtl="0" algn="l">
              <a:spcBef>
                <a:spcPts val="1200"/>
              </a:spcBef>
              <a:spcAft>
                <a:spcPts val="0"/>
              </a:spcAft>
              <a:buClr>
                <a:schemeClr val="dk1"/>
              </a:buClr>
              <a:buSzPts val="1200"/>
              <a:buChar char="●"/>
            </a:pPr>
            <a:r>
              <a:rPr b="1" lang="id" sz="1200">
                <a:solidFill>
                  <a:schemeClr val="dk1"/>
                </a:solidFill>
                <a:latin typeface="Times New Roman"/>
                <a:ea typeface="Times New Roman"/>
                <a:cs typeface="Times New Roman"/>
                <a:sym typeface="Times New Roman"/>
              </a:rPr>
              <a:t>Insight:</a:t>
            </a:r>
            <a:r>
              <a:rPr lang="id" sz="1200">
                <a:solidFill>
                  <a:schemeClr val="dk1"/>
                </a:solidFill>
                <a:latin typeface="Times New Roman"/>
                <a:ea typeface="Times New Roman"/>
                <a:cs typeface="Times New Roman"/>
                <a:sym typeface="Times New Roman"/>
              </a:rPr>
              <a:t> Pelanggan yang berinteraksi melalui </a:t>
            </a:r>
            <a:r>
              <a:rPr b="1" lang="id" sz="1200">
                <a:solidFill>
                  <a:schemeClr val="dk1"/>
                </a:solidFill>
                <a:latin typeface="Times New Roman"/>
                <a:ea typeface="Times New Roman"/>
                <a:cs typeface="Times New Roman"/>
                <a:sym typeface="Times New Roman"/>
              </a:rPr>
              <a:t>Mixed Channel</a:t>
            </a:r>
            <a:r>
              <a:rPr lang="id" sz="1200">
                <a:solidFill>
                  <a:schemeClr val="dk1"/>
                </a:solidFill>
                <a:latin typeface="Times New Roman"/>
                <a:ea typeface="Times New Roman"/>
                <a:cs typeface="Times New Roman"/>
                <a:sym typeface="Times New Roman"/>
              </a:rPr>
              <a:t> (Online dan In-Store) serta </a:t>
            </a:r>
            <a:r>
              <a:rPr b="1" lang="id" sz="1200">
                <a:solidFill>
                  <a:schemeClr val="dk1"/>
                </a:solidFill>
                <a:latin typeface="Times New Roman"/>
                <a:ea typeface="Times New Roman"/>
                <a:cs typeface="Times New Roman"/>
                <a:sym typeface="Times New Roman"/>
              </a:rPr>
              <a:t>Online</a:t>
            </a:r>
            <a:r>
              <a:rPr lang="id" sz="1200">
                <a:solidFill>
                  <a:schemeClr val="dk1"/>
                </a:solidFill>
                <a:latin typeface="Times New Roman"/>
                <a:ea typeface="Times New Roman"/>
                <a:cs typeface="Times New Roman"/>
                <a:sym typeface="Times New Roman"/>
              </a:rPr>
              <a:t> menunjukkan performa keseluruhan yang lebih tinggi dibandingkan hanya In-Store.</a:t>
            </a:r>
            <a:endParaRPr sz="1200">
              <a:solidFill>
                <a:schemeClr val="dk1"/>
              </a:solidFill>
              <a:latin typeface="Times New Roman"/>
              <a:ea typeface="Times New Roman"/>
              <a:cs typeface="Times New Roman"/>
              <a:sym typeface="Times New Roman"/>
            </a:endParaRPr>
          </a:p>
          <a:p>
            <a:pPr indent="0" lvl="0" marL="457200" rtl="0" algn="l">
              <a:spcBef>
                <a:spcPts val="1200"/>
              </a:spcBef>
              <a:spcAft>
                <a:spcPts val="0"/>
              </a:spcAft>
              <a:buNone/>
            </a:pPr>
            <a:r>
              <a:t/>
            </a:r>
            <a:endParaRPr sz="1200">
              <a:solidFill>
                <a:schemeClr val="dk1"/>
              </a:solidFill>
              <a:latin typeface="Times New Roman"/>
              <a:ea typeface="Times New Roman"/>
              <a:cs typeface="Times New Roman"/>
              <a:sym typeface="Times New Roman"/>
            </a:endParaRPr>
          </a:p>
          <a:p>
            <a:pPr indent="-304800" lvl="0" marL="457200" rtl="0" algn="l">
              <a:spcBef>
                <a:spcPts val="1200"/>
              </a:spcBef>
              <a:spcAft>
                <a:spcPts val="0"/>
              </a:spcAft>
              <a:buClr>
                <a:schemeClr val="dk1"/>
              </a:buClr>
              <a:buSzPts val="1200"/>
              <a:buChar char="●"/>
            </a:pPr>
            <a:r>
              <a:rPr b="1" lang="id" sz="1200">
                <a:solidFill>
                  <a:schemeClr val="dk1"/>
                </a:solidFill>
                <a:latin typeface="Times New Roman"/>
                <a:ea typeface="Times New Roman"/>
                <a:cs typeface="Times New Roman"/>
                <a:sym typeface="Times New Roman"/>
              </a:rPr>
              <a:t>Implikasi:</a:t>
            </a:r>
            <a:r>
              <a:rPr lang="id" sz="1200">
                <a:solidFill>
                  <a:schemeClr val="dk1"/>
                </a:solidFill>
                <a:latin typeface="Times New Roman"/>
                <a:ea typeface="Times New Roman"/>
                <a:cs typeface="Times New Roman"/>
                <a:sym typeface="Times New Roman"/>
              </a:rPr>
              <a:t> Strategi harus berpusat pada integrasi pengalaman omnichannel yang mulus dan penguatan kehadiran digital untuk memanfaatkan segmen pelanggan yang paling berdampak ini.</a:t>
            </a:r>
            <a:endParaRPr sz="1200">
              <a:solidFill>
                <a:schemeClr val="dk1"/>
              </a:solidFill>
              <a:latin typeface="Times New Roman"/>
              <a:ea typeface="Times New Roman"/>
              <a:cs typeface="Times New Roman"/>
              <a:sym typeface="Times New Roman"/>
            </a:endParaRPr>
          </a:p>
          <a:p>
            <a:pPr indent="0" lvl="0" marL="457200" rtl="0" algn="just">
              <a:spcBef>
                <a:spcPts val="1200"/>
              </a:spcBef>
              <a:spcAft>
                <a:spcPts val="1200"/>
              </a:spcAft>
              <a:buNone/>
            </a:pPr>
            <a:r>
              <a:t/>
            </a:r>
            <a:endParaRPr b="1" sz="1200">
              <a:solidFill>
                <a:schemeClr val="dk1"/>
              </a:solidFill>
              <a:latin typeface="Times New Roman"/>
              <a:ea typeface="Times New Roman"/>
              <a:cs typeface="Times New Roman"/>
              <a:sym typeface="Times New Roman"/>
            </a:endParaRPr>
          </a:p>
        </p:txBody>
      </p:sp>
      <p:pic>
        <p:nvPicPr>
          <p:cNvPr id="89" name="Google Shape;89;p18"/>
          <p:cNvPicPr preferRelativeResize="0"/>
          <p:nvPr/>
        </p:nvPicPr>
        <p:blipFill>
          <a:blip r:embed="rId3">
            <a:alphaModFix/>
          </a:blip>
          <a:stretch>
            <a:fillRect/>
          </a:stretch>
        </p:blipFill>
        <p:spPr>
          <a:xfrm>
            <a:off x="152400" y="1170125"/>
            <a:ext cx="2663700" cy="225196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Data Insight</a:t>
            </a:r>
            <a:endParaRPr/>
          </a:p>
        </p:txBody>
      </p:sp>
      <p:sp>
        <p:nvSpPr>
          <p:cNvPr id="95" name="Google Shape;95;p19"/>
          <p:cNvSpPr txBox="1"/>
          <p:nvPr>
            <p:ph idx="1" type="body"/>
          </p:nvPr>
        </p:nvSpPr>
        <p:spPr>
          <a:xfrm>
            <a:off x="2968500" y="1152475"/>
            <a:ext cx="5863800" cy="2331000"/>
          </a:xfrm>
          <a:prstGeom prst="rect">
            <a:avLst/>
          </a:prstGeom>
        </p:spPr>
        <p:txBody>
          <a:bodyPr anchorCtr="0" anchor="t" bIns="91425" lIns="91425" spcFirstLastPara="1" rIns="91425" wrap="square" tIns="91425">
            <a:normAutofit/>
          </a:bodyPr>
          <a:lstStyle/>
          <a:p>
            <a:pPr indent="0" lvl="0" marL="0" rtl="0" algn="just">
              <a:spcBef>
                <a:spcPts val="1200"/>
              </a:spcBef>
              <a:spcAft>
                <a:spcPts val="0"/>
              </a:spcAft>
              <a:buNone/>
            </a:pPr>
            <a:r>
              <a:rPr b="1" lang="id" sz="1200">
                <a:solidFill>
                  <a:schemeClr val="dk1"/>
                </a:solidFill>
                <a:latin typeface="Times New Roman"/>
                <a:ea typeface="Times New Roman"/>
                <a:cs typeface="Times New Roman"/>
                <a:sym typeface="Times New Roman"/>
              </a:rPr>
              <a:t>Pelanggan Perempuan sebagai Pendorong Pendapatan Bernilai Tinggi:</a:t>
            </a:r>
            <a:endParaRPr b="1" sz="1200">
              <a:solidFill>
                <a:schemeClr val="dk1"/>
              </a:solidFill>
              <a:latin typeface="Times New Roman"/>
              <a:ea typeface="Times New Roman"/>
              <a:cs typeface="Times New Roman"/>
              <a:sym typeface="Times New Roman"/>
            </a:endParaRPr>
          </a:p>
          <a:p>
            <a:pPr indent="-304800" lvl="0" marL="457200" rtl="0" algn="just">
              <a:spcBef>
                <a:spcPts val="1200"/>
              </a:spcBef>
              <a:spcAft>
                <a:spcPts val="0"/>
              </a:spcAft>
              <a:buClr>
                <a:schemeClr val="dk1"/>
              </a:buClr>
              <a:buSzPts val="1200"/>
              <a:buChar char="●"/>
            </a:pPr>
            <a:r>
              <a:rPr b="1" lang="id" sz="1200">
                <a:solidFill>
                  <a:schemeClr val="dk1"/>
                </a:solidFill>
                <a:latin typeface="Times New Roman"/>
                <a:ea typeface="Times New Roman"/>
                <a:cs typeface="Times New Roman"/>
                <a:sym typeface="Times New Roman"/>
              </a:rPr>
              <a:t>Insight:</a:t>
            </a:r>
            <a:r>
              <a:rPr lang="id" sz="1200">
                <a:solidFill>
                  <a:schemeClr val="dk1"/>
                </a:solidFill>
                <a:latin typeface="Times New Roman"/>
                <a:ea typeface="Times New Roman"/>
                <a:cs typeface="Times New Roman"/>
                <a:sym typeface="Times New Roman"/>
              </a:rPr>
              <a:t> Pelanggan perempuan secara konsisten menunjukkan nilai transaksi yang lebih tinggi daripada pelanggan laki-laki di semua segmen nilai (Middle dan High). Terutama di segmen High Value, kontribusi perempuan jauh lebih besar.</a:t>
            </a:r>
            <a:endParaRPr sz="1200">
              <a:solidFill>
                <a:schemeClr val="dk1"/>
              </a:solidFill>
              <a:latin typeface="Times New Roman"/>
              <a:ea typeface="Times New Roman"/>
              <a:cs typeface="Times New Roman"/>
              <a:sym typeface="Times New Roman"/>
            </a:endParaRPr>
          </a:p>
          <a:p>
            <a:pPr indent="0" lvl="0" marL="457200" rtl="0" algn="just">
              <a:spcBef>
                <a:spcPts val="1200"/>
              </a:spcBef>
              <a:spcAft>
                <a:spcPts val="0"/>
              </a:spcAft>
              <a:buNone/>
            </a:pPr>
            <a:r>
              <a:t/>
            </a:r>
            <a:endParaRPr sz="1200">
              <a:solidFill>
                <a:schemeClr val="dk1"/>
              </a:solidFill>
              <a:latin typeface="Times New Roman"/>
              <a:ea typeface="Times New Roman"/>
              <a:cs typeface="Times New Roman"/>
              <a:sym typeface="Times New Roman"/>
            </a:endParaRPr>
          </a:p>
          <a:p>
            <a:pPr indent="-304800" lvl="0" marL="457200" rtl="0" algn="just">
              <a:spcBef>
                <a:spcPts val="1200"/>
              </a:spcBef>
              <a:spcAft>
                <a:spcPts val="0"/>
              </a:spcAft>
              <a:buClr>
                <a:schemeClr val="dk1"/>
              </a:buClr>
              <a:buSzPts val="1200"/>
              <a:buChar char="●"/>
            </a:pPr>
            <a:r>
              <a:rPr b="1" lang="id" sz="1200">
                <a:solidFill>
                  <a:schemeClr val="dk1"/>
                </a:solidFill>
                <a:latin typeface="Times New Roman"/>
                <a:ea typeface="Times New Roman"/>
                <a:cs typeface="Times New Roman"/>
                <a:sym typeface="Times New Roman"/>
              </a:rPr>
              <a:t>Implikasi:</a:t>
            </a:r>
            <a:r>
              <a:rPr lang="id" sz="1200">
                <a:solidFill>
                  <a:schemeClr val="dk1"/>
                </a:solidFill>
                <a:latin typeface="Times New Roman"/>
                <a:ea typeface="Times New Roman"/>
                <a:cs typeface="Times New Roman"/>
                <a:sym typeface="Times New Roman"/>
              </a:rPr>
              <a:t> Mengembangkan penawaran, komunikasi, dan strategi retensi yang ditargetkan secara spesifik untuk pelanggan perempuan di segmen bernilai tinggi akan menjadi kunci untuk mendorong pertumbuhan pendapatan.</a:t>
            </a:r>
            <a:endParaRPr b="1" sz="1200">
              <a:solidFill>
                <a:schemeClr val="dk1"/>
              </a:solidFill>
              <a:latin typeface="Times New Roman"/>
              <a:ea typeface="Times New Roman"/>
              <a:cs typeface="Times New Roman"/>
              <a:sym typeface="Times New Roman"/>
            </a:endParaRPr>
          </a:p>
        </p:txBody>
      </p:sp>
      <p:pic>
        <p:nvPicPr>
          <p:cNvPr id="96" name="Google Shape;96;p19"/>
          <p:cNvPicPr preferRelativeResize="0"/>
          <p:nvPr/>
        </p:nvPicPr>
        <p:blipFill>
          <a:blip r:embed="rId3">
            <a:alphaModFix/>
          </a:blip>
          <a:stretch>
            <a:fillRect/>
          </a:stretch>
        </p:blipFill>
        <p:spPr>
          <a:xfrm>
            <a:off x="152400" y="1170125"/>
            <a:ext cx="2663700" cy="2635759"/>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Data Insight</a:t>
            </a:r>
            <a:endParaRPr/>
          </a:p>
        </p:txBody>
      </p:sp>
      <p:sp>
        <p:nvSpPr>
          <p:cNvPr id="102" name="Google Shape;102;p20"/>
          <p:cNvSpPr txBox="1"/>
          <p:nvPr>
            <p:ph idx="1" type="body"/>
          </p:nvPr>
        </p:nvSpPr>
        <p:spPr>
          <a:xfrm>
            <a:off x="2968500" y="1152475"/>
            <a:ext cx="5863800" cy="2331000"/>
          </a:xfrm>
          <a:prstGeom prst="rect">
            <a:avLst/>
          </a:prstGeom>
        </p:spPr>
        <p:txBody>
          <a:bodyPr anchorCtr="0" anchor="t" bIns="91425" lIns="91425" spcFirstLastPara="1" rIns="91425" wrap="square" tIns="91425">
            <a:noAutofit/>
          </a:bodyPr>
          <a:lstStyle/>
          <a:p>
            <a:pPr indent="0" lvl="0" marL="0" rtl="0" algn="just">
              <a:lnSpc>
                <a:spcPct val="105000"/>
              </a:lnSpc>
              <a:spcBef>
                <a:spcPts val="1200"/>
              </a:spcBef>
              <a:spcAft>
                <a:spcPts val="0"/>
              </a:spcAft>
              <a:buClr>
                <a:schemeClr val="dk1"/>
              </a:buClr>
              <a:buSzPts val="1018"/>
              <a:buFont typeface="Arial"/>
              <a:buNone/>
            </a:pPr>
            <a:r>
              <a:rPr b="1" lang="id" sz="1117">
                <a:solidFill>
                  <a:schemeClr val="dk1"/>
                </a:solidFill>
                <a:latin typeface="Times New Roman"/>
                <a:ea typeface="Times New Roman"/>
                <a:cs typeface="Times New Roman"/>
                <a:sym typeface="Times New Roman"/>
              </a:rPr>
              <a:t>Manajemen Ekspektasi: Kunci Kepuasan pada Berbagai Niat Pembelian:</a:t>
            </a:r>
            <a:endParaRPr b="1" sz="1117">
              <a:solidFill>
                <a:schemeClr val="dk1"/>
              </a:solidFill>
              <a:latin typeface="Times New Roman"/>
              <a:ea typeface="Times New Roman"/>
              <a:cs typeface="Times New Roman"/>
              <a:sym typeface="Times New Roman"/>
            </a:endParaRPr>
          </a:p>
          <a:p>
            <a:pPr indent="-299561" lvl="0" marL="457200" rtl="0" algn="just">
              <a:lnSpc>
                <a:spcPct val="105000"/>
              </a:lnSpc>
              <a:spcBef>
                <a:spcPts val="1200"/>
              </a:spcBef>
              <a:spcAft>
                <a:spcPts val="0"/>
              </a:spcAft>
              <a:buClr>
                <a:schemeClr val="dk1"/>
              </a:buClr>
              <a:buSzPts val="1118"/>
              <a:buChar char="●"/>
            </a:pPr>
            <a:r>
              <a:rPr b="1" lang="id" sz="1117">
                <a:solidFill>
                  <a:schemeClr val="dk1"/>
                </a:solidFill>
                <a:latin typeface="Times New Roman"/>
                <a:ea typeface="Times New Roman"/>
                <a:cs typeface="Times New Roman"/>
                <a:sym typeface="Times New Roman"/>
              </a:rPr>
              <a:t>Insight:</a:t>
            </a:r>
            <a:r>
              <a:rPr lang="id" sz="1117">
                <a:solidFill>
                  <a:schemeClr val="dk1"/>
                </a:solidFill>
                <a:latin typeface="Times New Roman"/>
                <a:ea typeface="Times New Roman"/>
                <a:cs typeface="Times New Roman"/>
                <a:sym typeface="Times New Roman"/>
              </a:rPr>
              <a:t> Pembelian </a:t>
            </a:r>
            <a:r>
              <a:rPr b="1" lang="id" sz="1117">
                <a:solidFill>
                  <a:schemeClr val="dk1"/>
                </a:solidFill>
                <a:latin typeface="Times New Roman"/>
                <a:ea typeface="Times New Roman"/>
                <a:cs typeface="Times New Roman"/>
                <a:sym typeface="Times New Roman"/>
              </a:rPr>
              <a:t>Planned</a:t>
            </a:r>
            <a:r>
              <a:rPr lang="id" sz="1117">
                <a:solidFill>
                  <a:schemeClr val="dk1"/>
                </a:solidFill>
                <a:latin typeface="Times New Roman"/>
                <a:ea typeface="Times New Roman"/>
                <a:cs typeface="Times New Roman"/>
                <a:sym typeface="Times New Roman"/>
              </a:rPr>
              <a:t> mendominasi peringkat kepuasan pelanggan tertinggi (Rating 5), menunjukkan bahwa produk/layanan yang sesuai rencana memenuhi ekspektasi. Sebaliknya, pembelian </a:t>
            </a:r>
            <a:r>
              <a:rPr b="1" lang="id" sz="1117">
                <a:solidFill>
                  <a:schemeClr val="dk1"/>
                </a:solidFill>
                <a:latin typeface="Times New Roman"/>
                <a:ea typeface="Times New Roman"/>
                <a:cs typeface="Times New Roman"/>
                <a:sym typeface="Times New Roman"/>
              </a:rPr>
              <a:t>Impulsive</a:t>
            </a:r>
            <a:r>
              <a:rPr lang="id" sz="1117">
                <a:solidFill>
                  <a:schemeClr val="dk1"/>
                </a:solidFill>
                <a:latin typeface="Times New Roman"/>
                <a:ea typeface="Times New Roman"/>
                <a:cs typeface="Times New Roman"/>
                <a:sym typeface="Times New Roman"/>
              </a:rPr>
              <a:t> lebih sering muncul pada peringkat kepuasan yang lebih rendah (Rating 1).</a:t>
            </a:r>
            <a:endParaRPr sz="1117">
              <a:solidFill>
                <a:schemeClr val="dk1"/>
              </a:solidFill>
              <a:latin typeface="Times New Roman"/>
              <a:ea typeface="Times New Roman"/>
              <a:cs typeface="Times New Roman"/>
              <a:sym typeface="Times New Roman"/>
            </a:endParaRPr>
          </a:p>
          <a:p>
            <a:pPr indent="0" lvl="0" marL="457200" rtl="0" algn="just">
              <a:lnSpc>
                <a:spcPct val="105000"/>
              </a:lnSpc>
              <a:spcBef>
                <a:spcPts val="1200"/>
              </a:spcBef>
              <a:spcAft>
                <a:spcPts val="0"/>
              </a:spcAft>
              <a:buSzPts val="1018"/>
              <a:buNone/>
            </a:pPr>
            <a:r>
              <a:t/>
            </a:r>
            <a:endParaRPr sz="1117">
              <a:solidFill>
                <a:schemeClr val="dk1"/>
              </a:solidFill>
              <a:latin typeface="Times New Roman"/>
              <a:ea typeface="Times New Roman"/>
              <a:cs typeface="Times New Roman"/>
              <a:sym typeface="Times New Roman"/>
            </a:endParaRPr>
          </a:p>
          <a:p>
            <a:pPr indent="-299561" lvl="0" marL="457200" rtl="0" algn="just">
              <a:lnSpc>
                <a:spcPct val="105000"/>
              </a:lnSpc>
              <a:spcBef>
                <a:spcPts val="1200"/>
              </a:spcBef>
              <a:spcAft>
                <a:spcPts val="0"/>
              </a:spcAft>
              <a:buClr>
                <a:schemeClr val="dk1"/>
              </a:buClr>
              <a:buSzPts val="1118"/>
              <a:buChar char="●"/>
            </a:pPr>
            <a:r>
              <a:rPr b="1" lang="id" sz="1117">
                <a:solidFill>
                  <a:schemeClr val="dk1"/>
                </a:solidFill>
                <a:latin typeface="Times New Roman"/>
                <a:ea typeface="Times New Roman"/>
                <a:cs typeface="Times New Roman"/>
                <a:sym typeface="Times New Roman"/>
              </a:rPr>
              <a:t>Implikasi:</a:t>
            </a:r>
            <a:r>
              <a:rPr lang="id" sz="1117">
                <a:solidFill>
                  <a:schemeClr val="dk1"/>
                </a:solidFill>
                <a:latin typeface="Times New Roman"/>
                <a:ea typeface="Times New Roman"/>
                <a:cs typeface="Times New Roman"/>
                <a:sym typeface="Times New Roman"/>
              </a:rPr>
              <a:t> Perusahaan perlu lebih efektif mengelola ekspektasi dan memberikan pengalaman positif pada pembelian impulsif. Untuk pembelian terencana, fokus pada konsistensi kualitas dan pemenuhan janji adalah vital.</a:t>
            </a:r>
            <a:endParaRPr sz="1117">
              <a:solidFill>
                <a:schemeClr val="dk1"/>
              </a:solidFill>
              <a:latin typeface="Times New Roman"/>
              <a:ea typeface="Times New Roman"/>
              <a:cs typeface="Times New Roman"/>
              <a:sym typeface="Times New Roman"/>
            </a:endParaRPr>
          </a:p>
          <a:p>
            <a:pPr indent="0" lvl="0" marL="457200" rtl="0" algn="just">
              <a:lnSpc>
                <a:spcPct val="105000"/>
              </a:lnSpc>
              <a:spcBef>
                <a:spcPts val="1200"/>
              </a:spcBef>
              <a:spcAft>
                <a:spcPts val="1200"/>
              </a:spcAft>
              <a:buSzPts val="1018"/>
              <a:buNone/>
            </a:pPr>
            <a:r>
              <a:t/>
            </a:r>
            <a:endParaRPr b="1" sz="1117">
              <a:solidFill>
                <a:schemeClr val="dk1"/>
              </a:solidFill>
              <a:latin typeface="Times New Roman"/>
              <a:ea typeface="Times New Roman"/>
              <a:cs typeface="Times New Roman"/>
              <a:sym typeface="Times New Roman"/>
            </a:endParaRPr>
          </a:p>
        </p:txBody>
      </p:sp>
      <p:pic>
        <p:nvPicPr>
          <p:cNvPr id="103" name="Google Shape;103;p20"/>
          <p:cNvPicPr preferRelativeResize="0"/>
          <p:nvPr/>
        </p:nvPicPr>
        <p:blipFill>
          <a:blip r:embed="rId3">
            <a:alphaModFix/>
          </a:blip>
          <a:stretch>
            <a:fillRect/>
          </a:stretch>
        </p:blipFill>
        <p:spPr>
          <a:xfrm>
            <a:off x="152400" y="1170125"/>
            <a:ext cx="2505075" cy="26098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21"/>
          <p:cNvSpPr txBox="1"/>
          <p:nvPr>
            <p:ph type="title"/>
          </p:nvPr>
        </p:nvSpPr>
        <p:spPr>
          <a:xfrm>
            <a:off x="380513" y="1630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Business Impact</a:t>
            </a:r>
            <a:endParaRPr/>
          </a:p>
        </p:txBody>
      </p:sp>
      <p:sp>
        <p:nvSpPr>
          <p:cNvPr id="109" name="Google Shape;109;p21"/>
          <p:cNvSpPr txBox="1"/>
          <p:nvPr>
            <p:ph idx="1" type="body"/>
          </p:nvPr>
        </p:nvSpPr>
        <p:spPr>
          <a:xfrm>
            <a:off x="5382950" y="658050"/>
            <a:ext cx="3600900" cy="3807000"/>
          </a:xfrm>
          <a:prstGeom prst="rect">
            <a:avLst/>
          </a:prstGeom>
        </p:spPr>
        <p:txBody>
          <a:bodyPr anchorCtr="0" anchor="t" bIns="91425" lIns="91425" spcFirstLastPara="1" rIns="91425" wrap="square" tIns="91425">
            <a:noAutofit/>
          </a:bodyPr>
          <a:lstStyle/>
          <a:p>
            <a:pPr indent="0" lvl="0" marL="0" rtl="0" algn="just">
              <a:lnSpc>
                <a:spcPct val="100000"/>
              </a:lnSpc>
              <a:spcBef>
                <a:spcPts val="0"/>
              </a:spcBef>
              <a:spcAft>
                <a:spcPts val="0"/>
              </a:spcAft>
              <a:buNone/>
            </a:pPr>
            <a:r>
              <a:rPr b="1" lang="id" sz="700">
                <a:solidFill>
                  <a:schemeClr val="dk1"/>
                </a:solidFill>
                <a:latin typeface="Times New Roman"/>
                <a:ea typeface="Times New Roman"/>
                <a:cs typeface="Times New Roman"/>
                <a:sym typeface="Times New Roman"/>
              </a:rPr>
              <a:t>Loyalty Program Effectiveness:</a:t>
            </a:r>
            <a:endParaRPr b="1" sz="700">
              <a:solidFill>
                <a:schemeClr val="dk1"/>
              </a:solidFill>
              <a:latin typeface="Times New Roman"/>
              <a:ea typeface="Times New Roman"/>
              <a:cs typeface="Times New Roman"/>
              <a:sym typeface="Times New Roman"/>
            </a:endParaRPr>
          </a:p>
          <a:p>
            <a:pPr indent="-273050" lvl="0" marL="457200" rtl="0" algn="just">
              <a:spcBef>
                <a:spcPts val="1200"/>
              </a:spcBef>
              <a:spcAft>
                <a:spcPts val="0"/>
              </a:spcAft>
              <a:buClr>
                <a:schemeClr val="dk1"/>
              </a:buClr>
              <a:buSzPts val="700"/>
              <a:buChar char="●"/>
            </a:pPr>
            <a:r>
              <a:rPr b="1" lang="id" sz="700">
                <a:solidFill>
                  <a:schemeClr val="dk1"/>
                </a:solidFill>
                <a:latin typeface="Times New Roman"/>
                <a:ea typeface="Times New Roman"/>
                <a:cs typeface="Times New Roman"/>
                <a:sym typeface="Times New Roman"/>
              </a:rPr>
              <a:t>Insight:</a:t>
            </a:r>
            <a:r>
              <a:rPr lang="id" sz="700">
                <a:solidFill>
                  <a:schemeClr val="dk1"/>
                </a:solidFill>
                <a:latin typeface="Times New Roman"/>
                <a:ea typeface="Times New Roman"/>
                <a:cs typeface="Times New Roman"/>
                <a:sym typeface="Times New Roman"/>
              </a:rPr>
              <a:t> Lebih dari separuh pelanggan adalah anggota program loyalitas, namun efektivitasnya dalam mendorong nilai atau frekuensi pembelian perlu dievaluasi ulang.</a:t>
            </a:r>
            <a:endParaRPr sz="700">
              <a:solidFill>
                <a:schemeClr val="dk1"/>
              </a:solidFill>
              <a:latin typeface="Times New Roman"/>
              <a:ea typeface="Times New Roman"/>
              <a:cs typeface="Times New Roman"/>
              <a:sym typeface="Times New Roman"/>
            </a:endParaRPr>
          </a:p>
          <a:p>
            <a:pPr indent="0" lvl="0" marL="0" rtl="0" algn="just">
              <a:spcBef>
                <a:spcPts val="1200"/>
              </a:spcBef>
              <a:spcAft>
                <a:spcPts val="0"/>
              </a:spcAft>
              <a:buNone/>
            </a:pPr>
            <a:r>
              <a:rPr b="1" lang="id" sz="700">
                <a:solidFill>
                  <a:schemeClr val="dk1"/>
                </a:solidFill>
                <a:latin typeface="Times New Roman"/>
                <a:ea typeface="Times New Roman"/>
                <a:cs typeface="Times New Roman"/>
                <a:sym typeface="Times New Roman"/>
              </a:rPr>
              <a:t>Geographic &amp; Category Performance:</a:t>
            </a:r>
            <a:endParaRPr b="1" sz="700">
              <a:solidFill>
                <a:schemeClr val="dk1"/>
              </a:solidFill>
              <a:latin typeface="Times New Roman"/>
              <a:ea typeface="Times New Roman"/>
              <a:cs typeface="Times New Roman"/>
              <a:sym typeface="Times New Roman"/>
            </a:endParaRPr>
          </a:p>
          <a:p>
            <a:pPr indent="-273050" lvl="0" marL="457200" rtl="0" algn="just">
              <a:spcBef>
                <a:spcPts val="1200"/>
              </a:spcBef>
              <a:spcAft>
                <a:spcPts val="0"/>
              </a:spcAft>
              <a:buClr>
                <a:schemeClr val="dk1"/>
              </a:buClr>
              <a:buSzPts val="700"/>
              <a:buChar char="●"/>
            </a:pPr>
            <a:r>
              <a:rPr b="1" lang="id" sz="700">
                <a:solidFill>
                  <a:schemeClr val="dk1"/>
                </a:solidFill>
                <a:latin typeface="Times New Roman"/>
                <a:ea typeface="Times New Roman"/>
                <a:cs typeface="Times New Roman"/>
                <a:sym typeface="Times New Roman"/>
              </a:rPr>
              <a:t>Insight:</a:t>
            </a:r>
            <a:r>
              <a:rPr lang="id" sz="700">
                <a:solidFill>
                  <a:schemeClr val="dk1"/>
                </a:solidFill>
                <a:latin typeface="Times New Roman"/>
                <a:ea typeface="Times New Roman"/>
                <a:cs typeface="Times New Roman"/>
                <a:sym typeface="Times New Roman"/>
              </a:rPr>
              <a:t> Makassar, Jakarta, dan Bandung adalah pasar dengan jumlah pelanggan terbanyak, mengindikasikan prioritas geografis untuk fokus strategi.</a:t>
            </a:r>
            <a:endParaRPr sz="700">
              <a:solidFill>
                <a:schemeClr val="dk1"/>
              </a:solidFill>
              <a:latin typeface="Times New Roman"/>
              <a:ea typeface="Times New Roman"/>
              <a:cs typeface="Times New Roman"/>
              <a:sym typeface="Times New Roman"/>
            </a:endParaRPr>
          </a:p>
          <a:p>
            <a:pPr indent="0" lvl="0" marL="0" rtl="0" algn="just">
              <a:spcBef>
                <a:spcPts val="1200"/>
              </a:spcBef>
              <a:spcAft>
                <a:spcPts val="0"/>
              </a:spcAft>
              <a:buNone/>
            </a:pPr>
            <a:r>
              <a:rPr b="1" lang="id" sz="700">
                <a:solidFill>
                  <a:schemeClr val="dk1"/>
                </a:solidFill>
                <a:latin typeface="Times New Roman"/>
                <a:ea typeface="Times New Roman"/>
                <a:cs typeface="Times New Roman"/>
                <a:sym typeface="Times New Roman"/>
              </a:rPr>
              <a:t>Channel &amp; Social Media Impact:</a:t>
            </a:r>
            <a:endParaRPr b="1" sz="700">
              <a:solidFill>
                <a:schemeClr val="dk1"/>
              </a:solidFill>
              <a:latin typeface="Times New Roman"/>
              <a:ea typeface="Times New Roman"/>
              <a:cs typeface="Times New Roman"/>
              <a:sym typeface="Times New Roman"/>
            </a:endParaRPr>
          </a:p>
          <a:p>
            <a:pPr indent="-273050" lvl="0" marL="457200" rtl="0" algn="just">
              <a:spcBef>
                <a:spcPts val="1200"/>
              </a:spcBef>
              <a:spcAft>
                <a:spcPts val="0"/>
              </a:spcAft>
              <a:buClr>
                <a:schemeClr val="dk1"/>
              </a:buClr>
              <a:buSzPts val="700"/>
              <a:buChar char="●"/>
            </a:pPr>
            <a:r>
              <a:rPr b="1" lang="id" sz="700">
                <a:solidFill>
                  <a:schemeClr val="dk1"/>
                </a:solidFill>
                <a:latin typeface="Times New Roman"/>
                <a:ea typeface="Times New Roman"/>
                <a:cs typeface="Times New Roman"/>
                <a:sym typeface="Times New Roman"/>
              </a:rPr>
              <a:t>Insight:</a:t>
            </a:r>
            <a:r>
              <a:rPr lang="id" sz="700">
                <a:solidFill>
                  <a:schemeClr val="dk1"/>
                </a:solidFill>
                <a:latin typeface="Times New Roman"/>
                <a:ea typeface="Times New Roman"/>
                <a:cs typeface="Times New Roman"/>
                <a:sym typeface="Times New Roman"/>
              </a:rPr>
              <a:t> Pelanggan Omnichannel (Mixed) dan Online memiliki dampak tertinggi, menunjukkan pentingnya integrasi saluran dan penguatan digital.</a:t>
            </a:r>
            <a:endParaRPr sz="700">
              <a:solidFill>
                <a:schemeClr val="dk1"/>
              </a:solidFill>
              <a:latin typeface="Times New Roman"/>
              <a:ea typeface="Times New Roman"/>
              <a:cs typeface="Times New Roman"/>
              <a:sym typeface="Times New Roman"/>
            </a:endParaRPr>
          </a:p>
          <a:p>
            <a:pPr indent="0" lvl="0" marL="0" rtl="0" algn="just">
              <a:spcBef>
                <a:spcPts val="1200"/>
              </a:spcBef>
              <a:spcAft>
                <a:spcPts val="0"/>
              </a:spcAft>
              <a:buNone/>
            </a:pPr>
            <a:r>
              <a:rPr b="1" lang="id" sz="700">
                <a:solidFill>
                  <a:schemeClr val="dk1"/>
                </a:solidFill>
                <a:latin typeface="Times New Roman"/>
                <a:ea typeface="Times New Roman"/>
                <a:cs typeface="Times New Roman"/>
                <a:sym typeface="Times New Roman"/>
              </a:rPr>
              <a:t>Purchase Intent &amp; Rating Analysis:</a:t>
            </a:r>
            <a:endParaRPr b="1" sz="700">
              <a:solidFill>
                <a:schemeClr val="dk1"/>
              </a:solidFill>
              <a:latin typeface="Times New Roman"/>
              <a:ea typeface="Times New Roman"/>
              <a:cs typeface="Times New Roman"/>
              <a:sym typeface="Times New Roman"/>
            </a:endParaRPr>
          </a:p>
          <a:p>
            <a:pPr indent="-273050" lvl="0" marL="457200" rtl="0" algn="just">
              <a:spcBef>
                <a:spcPts val="1200"/>
              </a:spcBef>
              <a:spcAft>
                <a:spcPts val="0"/>
              </a:spcAft>
              <a:buClr>
                <a:schemeClr val="dk1"/>
              </a:buClr>
              <a:buSzPts val="700"/>
              <a:buChar char="●"/>
            </a:pPr>
            <a:r>
              <a:rPr b="1" lang="id" sz="700">
                <a:solidFill>
                  <a:schemeClr val="dk1"/>
                </a:solidFill>
                <a:latin typeface="Times New Roman"/>
                <a:ea typeface="Times New Roman"/>
                <a:cs typeface="Times New Roman"/>
                <a:sym typeface="Times New Roman"/>
              </a:rPr>
              <a:t>Insight:</a:t>
            </a:r>
            <a:r>
              <a:rPr lang="id" sz="700">
                <a:solidFill>
                  <a:schemeClr val="dk1"/>
                </a:solidFill>
                <a:latin typeface="Times New Roman"/>
                <a:ea typeface="Times New Roman"/>
                <a:cs typeface="Times New Roman"/>
                <a:sym typeface="Times New Roman"/>
              </a:rPr>
              <a:t> Pembelian terencana (Planned) berkorelasi dengan kepuasan tertinggi, sedangkan pembelian impulsif (Impulsive) cenderung memiliki rating lebih rendah, memerlukan manajemen ekspektasi.</a:t>
            </a:r>
            <a:endParaRPr sz="700">
              <a:solidFill>
                <a:schemeClr val="dk1"/>
              </a:solidFill>
              <a:latin typeface="Times New Roman"/>
              <a:ea typeface="Times New Roman"/>
              <a:cs typeface="Times New Roman"/>
              <a:sym typeface="Times New Roman"/>
            </a:endParaRPr>
          </a:p>
          <a:p>
            <a:pPr indent="0" lvl="0" marL="0" rtl="0" algn="just">
              <a:spcBef>
                <a:spcPts val="1200"/>
              </a:spcBef>
              <a:spcAft>
                <a:spcPts val="0"/>
              </a:spcAft>
              <a:buNone/>
            </a:pPr>
            <a:r>
              <a:rPr b="1" lang="id" sz="700">
                <a:solidFill>
                  <a:schemeClr val="dk1"/>
                </a:solidFill>
                <a:latin typeface="Times New Roman"/>
                <a:ea typeface="Times New Roman"/>
                <a:cs typeface="Times New Roman"/>
                <a:sym typeface="Times New Roman"/>
              </a:rPr>
              <a:t>High Value Customers Profiling:</a:t>
            </a:r>
            <a:endParaRPr b="1" sz="700">
              <a:solidFill>
                <a:schemeClr val="dk1"/>
              </a:solidFill>
              <a:latin typeface="Times New Roman"/>
              <a:ea typeface="Times New Roman"/>
              <a:cs typeface="Times New Roman"/>
              <a:sym typeface="Times New Roman"/>
            </a:endParaRPr>
          </a:p>
          <a:p>
            <a:pPr indent="-273050" lvl="0" marL="457200" rtl="0" algn="just">
              <a:spcBef>
                <a:spcPts val="1200"/>
              </a:spcBef>
              <a:spcAft>
                <a:spcPts val="0"/>
              </a:spcAft>
              <a:buClr>
                <a:schemeClr val="dk1"/>
              </a:buClr>
              <a:buSzPts val="700"/>
              <a:buChar char="●"/>
            </a:pPr>
            <a:r>
              <a:rPr b="1" lang="id" sz="700">
                <a:solidFill>
                  <a:schemeClr val="dk1"/>
                </a:solidFill>
                <a:latin typeface="Times New Roman"/>
                <a:ea typeface="Times New Roman"/>
                <a:cs typeface="Times New Roman"/>
                <a:sym typeface="Times New Roman"/>
              </a:rPr>
              <a:t>Insight:</a:t>
            </a:r>
            <a:r>
              <a:rPr lang="id" sz="700">
                <a:solidFill>
                  <a:schemeClr val="dk1"/>
                </a:solidFill>
                <a:latin typeface="Times New Roman"/>
                <a:ea typeface="Times New Roman"/>
                <a:cs typeface="Times New Roman"/>
                <a:sym typeface="Times New Roman"/>
              </a:rPr>
              <a:t> Pelanggan perempuan secara konsisten menyumbang nilai transaksi lebih tinggi di segmen bernilai tinggi, menjadikan mereka target utama untuk peningkatan pendapatan.</a:t>
            </a:r>
            <a:endParaRPr b="1" sz="700">
              <a:solidFill>
                <a:schemeClr val="dk1"/>
              </a:solidFill>
              <a:latin typeface="Times New Roman"/>
              <a:ea typeface="Times New Roman"/>
              <a:cs typeface="Times New Roman"/>
              <a:sym typeface="Times New Roman"/>
            </a:endParaRPr>
          </a:p>
        </p:txBody>
      </p:sp>
      <p:pic>
        <p:nvPicPr>
          <p:cNvPr id="110" name="Google Shape;110;p21"/>
          <p:cNvPicPr preferRelativeResize="0"/>
          <p:nvPr/>
        </p:nvPicPr>
        <p:blipFill>
          <a:blip r:embed="rId3">
            <a:alphaModFix/>
          </a:blip>
          <a:stretch>
            <a:fillRect/>
          </a:stretch>
        </p:blipFill>
        <p:spPr>
          <a:xfrm>
            <a:off x="242889" y="692275"/>
            <a:ext cx="4999826" cy="37727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22"/>
          <p:cNvSpPr txBox="1"/>
          <p:nvPr>
            <p:ph type="title"/>
          </p:nvPr>
        </p:nvSpPr>
        <p:spPr>
          <a:xfrm>
            <a:off x="269150" y="853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Recommendation Action</a:t>
            </a:r>
            <a:endParaRPr/>
          </a:p>
        </p:txBody>
      </p:sp>
      <p:sp>
        <p:nvSpPr>
          <p:cNvPr id="116" name="Google Shape;116;p22"/>
          <p:cNvSpPr txBox="1"/>
          <p:nvPr>
            <p:ph idx="1" type="body"/>
          </p:nvPr>
        </p:nvSpPr>
        <p:spPr>
          <a:xfrm>
            <a:off x="5170100" y="658050"/>
            <a:ext cx="3872400" cy="3990900"/>
          </a:xfrm>
          <a:prstGeom prst="rect">
            <a:avLst/>
          </a:prstGeom>
        </p:spPr>
        <p:txBody>
          <a:bodyPr anchorCtr="0" anchor="t" bIns="91425" lIns="91425" spcFirstLastPara="1" rIns="91425" wrap="square" tIns="91425">
            <a:noAutofit/>
          </a:bodyPr>
          <a:lstStyle/>
          <a:p>
            <a:pPr indent="0" lvl="0" marL="0" rtl="0" algn="just">
              <a:lnSpc>
                <a:spcPct val="100000"/>
              </a:lnSpc>
              <a:spcBef>
                <a:spcPts val="300"/>
              </a:spcBef>
              <a:spcAft>
                <a:spcPts val="0"/>
              </a:spcAft>
              <a:buNone/>
            </a:pPr>
            <a:r>
              <a:rPr b="1" lang="id" sz="900">
                <a:solidFill>
                  <a:schemeClr val="dk1"/>
                </a:solidFill>
                <a:latin typeface="Times New Roman"/>
                <a:ea typeface="Times New Roman"/>
                <a:cs typeface="Times New Roman"/>
                <a:sym typeface="Times New Roman"/>
              </a:rPr>
              <a:t>Loyalty Program Effectiveness:</a:t>
            </a:r>
            <a:endParaRPr b="1" sz="900">
              <a:solidFill>
                <a:schemeClr val="dk1"/>
              </a:solidFill>
              <a:latin typeface="Times New Roman"/>
              <a:ea typeface="Times New Roman"/>
              <a:cs typeface="Times New Roman"/>
              <a:sym typeface="Times New Roman"/>
            </a:endParaRPr>
          </a:p>
          <a:p>
            <a:pPr indent="-285750" lvl="0" marL="457200" rtl="0" algn="just">
              <a:lnSpc>
                <a:spcPct val="100000"/>
              </a:lnSpc>
              <a:spcBef>
                <a:spcPts val="300"/>
              </a:spcBef>
              <a:spcAft>
                <a:spcPts val="0"/>
              </a:spcAft>
              <a:buClr>
                <a:schemeClr val="dk1"/>
              </a:buClr>
              <a:buSzPts val="900"/>
              <a:buChar char="●"/>
            </a:pPr>
            <a:r>
              <a:rPr b="1" lang="id" sz="900">
                <a:solidFill>
                  <a:schemeClr val="dk1"/>
                </a:solidFill>
                <a:latin typeface="Times New Roman"/>
                <a:ea typeface="Times New Roman"/>
                <a:cs typeface="Times New Roman"/>
                <a:sym typeface="Times New Roman"/>
              </a:rPr>
              <a:t>Rekomendasi Aksi:</a:t>
            </a:r>
            <a:r>
              <a:rPr lang="id" sz="900">
                <a:solidFill>
                  <a:schemeClr val="dk1"/>
                </a:solidFill>
                <a:latin typeface="Times New Roman"/>
                <a:ea typeface="Times New Roman"/>
                <a:cs typeface="Times New Roman"/>
                <a:sym typeface="Times New Roman"/>
              </a:rPr>
              <a:t> Desain ulang program loyalitas dengan insentif yang lebih menarik dan komunikasikan manfaatnya secara jelas untuk mendorong peningkatan pembelian dari anggota.</a:t>
            </a:r>
            <a:endParaRPr sz="900">
              <a:solidFill>
                <a:schemeClr val="dk1"/>
              </a:solidFill>
              <a:latin typeface="Times New Roman"/>
              <a:ea typeface="Times New Roman"/>
              <a:cs typeface="Times New Roman"/>
              <a:sym typeface="Times New Roman"/>
            </a:endParaRPr>
          </a:p>
          <a:p>
            <a:pPr indent="0" lvl="0" marL="457200" rtl="0" algn="just">
              <a:lnSpc>
                <a:spcPct val="100000"/>
              </a:lnSpc>
              <a:spcBef>
                <a:spcPts val="300"/>
              </a:spcBef>
              <a:spcAft>
                <a:spcPts val="0"/>
              </a:spcAft>
              <a:buNone/>
            </a:pPr>
            <a:r>
              <a:t/>
            </a:r>
            <a:endParaRPr sz="900">
              <a:solidFill>
                <a:schemeClr val="dk1"/>
              </a:solidFill>
              <a:latin typeface="Times New Roman"/>
              <a:ea typeface="Times New Roman"/>
              <a:cs typeface="Times New Roman"/>
              <a:sym typeface="Times New Roman"/>
            </a:endParaRPr>
          </a:p>
          <a:p>
            <a:pPr indent="0" lvl="0" marL="0" rtl="0" algn="just">
              <a:lnSpc>
                <a:spcPct val="100000"/>
              </a:lnSpc>
              <a:spcBef>
                <a:spcPts val="300"/>
              </a:spcBef>
              <a:spcAft>
                <a:spcPts val="0"/>
              </a:spcAft>
              <a:buNone/>
            </a:pPr>
            <a:r>
              <a:rPr b="1" lang="id" sz="900">
                <a:solidFill>
                  <a:schemeClr val="dk1"/>
                </a:solidFill>
                <a:latin typeface="Times New Roman"/>
                <a:ea typeface="Times New Roman"/>
                <a:cs typeface="Times New Roman"/>
                <a:sym typeface="Times New Roman"/>
              </a:rPr>
              <a:t>Geographic &amp; Category Performance:</a:t>
            </a:r>
            <a:endParaRPr b="1" sz="900">
              <a:solidFill>
                <a:schemeClr val="dk1"/>
              </a:solidFill>
              <a:latin typeface="Times New Roman"/>
              <a:ea typeface="Times New Roman"/>
              <a:cs typeface="Times New Roman"/>
              <a:sym typeface="Times New Roman"/>
            </a:endParaRPr>
          </a:p>
          <a:p>
            <a:pPr indent="-285750" lvl="0" marL="457200" rtl="0" algn="just">
              <a:lnSpc>
                <a:spcPct val="100000"/>
              </a:lnSpc>
              <a:spcBef>
                <a:spcPts val="300"/>
              </a:spcBef>
              <a:spcAft>
                <a:spcPts val="0"/>
              </a:spcAft>
              <a:buClr>
                <a:schemeClr val="dk1"/>
              </a:buClr>
              <a:buSzPts val="900"/>
              <a:buChar char="●"/>
            </a:pPr>
            <a:r>
              <a:rPr b="1" lang="id" sz="900">
                <a:solidFill>
                  <a:schemeClr val="dk1"/>
                </a:solidFill>
                <a:latin typeface="Times New Roman"/>
                <a:ea typeface="Times New Roman"/>
                <a:cs typeface="Times New Roman"/>
                <a:sym typeface="Times New Roman"/>
              </a:rPr>
              <a:t>Rekomendasi Aksi:</a:t>
            </a:r>
            <a:r>
              <a:rPr lang="id" sz="900">
                <a:solidFill>
                  <a:schemeClr val="dk1"/>
                </a:solidFill>
                <a:latin typeface="Times New Roman"/>
                <a:ea typeface="Times New Roman"/>
                <a:cs typeface="Times New Roman"/>
                <a:sym typeface="Times New Roman"/>
              </a:rPr>
              <a:t> Alokasikan sumber daya pemasaran dan operasional lebih besar ke Makassar, Jakarta, dan Bandung; pertimbangkan promosi atau event lokal.</a:t>
            </a:r>
            <a:endParaRPr sz="900">
              <a:solidFill>
                <a:schemeClr val="dk1"/>
              </a:solidFill>
              <a:latin typeface="Times New Roman"/>
              <a:ea typeface="Times New Roman"/>
              <a:cs typeface="Times New Roman"/>
              <a:sym typeface="Times New Roman"/>
            </a:endParaRPr>
          </a:p>
          <a:p>
            <a:pPr indent="0" lvl="0" marL="457200" rtl="0" algn="just">
              <a:lnSpc>
                <a:spcPct val="100000"/>
              </a:lnSpc>
              <a:spcBef>
                <a:spcPts val="300"/>
              </a:spcBef>
              <a:spcAft>
                <a:spcPts val="0"/>
              </a:spcAft>
              <a:buNone/>
            </a:pPr>
            <a:r>
              <a:t/>
            </a:r>
            <a:endParaRPr sz="900">
              <a:solidFill>
                <a:schemeClr val="dk1"/>
              </a:solidFill>
              <a:latin typeface="Times New Roman"/>
              <a:ea typeface="Times New Roman"/>
              <a:cs typeface="Times New Roman"/>
              <a:sym typeface="Times New Roman"/>
            </a:endParaRPr>
          </a:p>
          <a:p>
            <a:pPr indent="0" lvl="0" marL="0" rtl="0" algn="just">
              <a:lnSpc>
                <a:spcPct val="100000"/>
              </a:lnSpc>
              <a:spcBef>
                <a:spcPts val="300"/>
              </a:spcBef>
              <a:spcAft>
                <a:spcPts val="0"/>
              </a:spcAft>
              <a:buNone/>
            </a:pPr>
            <a:r>
              <a:rPr b="1" lang="id" sz="900">
                <a:solidFill>
                  <a:schemeClr val="dk1"/>
                </a:solidFill>
                <a:latin typeface="Times New Roman"/>
                <a:ea typeface="Times New Roman"/>
                <a:cs typeface="Times New Roman"/>
                <a:sym typeface="Times New Roman"/>
              </a:rPr>
              <a:t>Channel &amp; Social Media Impact:</a:t>
            </a:r>
            <a:endParaRPr b="1" sz="900">
              <a:solidFill>
                <a:schemeClr val="dk1"/>
              </a:solidFill>
              <a:latin typeface="Times New Roman"/>
              <a:ea typeface="Times New Roman"/>
              <a:cs typeface="Times New Roman"/>
              <a:sym typeface="Times New Roman"/>
            </a:endParaRPr>
          </a:p>
          <a:p>
            <a:pPr indent="-285750" lvl="0" marL="457200" rtl="0" algn="just">
              <a:lnSpc>
                <a:spcPct val="100000"/>
              </a:lnSpc>
              <a:spcBef>
                <a:spcPts val="300"/>
              </a:spcBef>
              <a:spcAft>
                <a:spcPts val="0"/>
              </a:spcAft>
              <a:buClr>
                <a:schemeClr val="dk1"/>
              </a:buClr>
              <a:buSzPts val="900"/>
              <a:buChar char="●"/>
            </a:pPr>
            <a:r>
              <a:rPr b="1" lang="id" sz="900">
                <a:solidFill>
                  <a:schemeClr val="dk1"/>
                </a:solidFill>
                <a:latin typeface="Times New Roman"/>
                <a:ea typeface="Times New Roman"/>
                <a:cs typeface="Times New Roman"/>
                <a:sym typeface="Times New Roman"/>
              </a:rPr>
              <a:t>Rekomendasi Aksi:</a:t>
            </a:r>
            <a:r>
              <a:rPr lang="id" sz="900">
                <a:solidFill>
                  <a:schemeClr val="dk1"/>
                </a:solidFill>
                <a:latin typeface="Times New Roman"/>
                <a:ea typeface="Times New Roman"/>
                <a:cs typeface="Times New Roman"/>
                <a:sym typeface="Times New Roman"/>
              </a:rPr>
              <a:t> Investasi pada integrasi seamless antara saluran online dan offline (omnichannel) serta tingkatkan kampanye pemasaran digital.</a:t>
            </a:r>
            <a:endParaRPr sz="900">
              <a:solidFill>
                <a:schemeClr val="dk1"/>
              </a:solidFill>
              <a:latin typeface="Times New Roman"/>
              <a:ea typeface="Times New Roman"/>
              <a:cs typeface="Times New Roman"/>
              <a:sym typeface="Times New Roman"/>
            </a:endParaRPr>
          </a:p>
          <a:p>
            <a:pPr indent="0" lvl="0" marL="457200" rtl="0" algn="just">
              <a:lnSpc>
                <a:spcPct val="100000"/>
              </a:lnSpc>
              <a:spcBef>
                <a:spcPts val="300"/>
              </a:spcBef>
              <a:spcAft>
                <a:spcPts val="0"/>
              </a:spcAft>
              <a:buNone/>
            </a:pPr>
            <a:r>
              <a:t/>
            </a:r>
            <a:endParaRPr sz="900">
              <a:solidFill>
                <a:schemeClr val="dk1"/>
              </a:solidFill>
              <a:latin typeface="Times New Roman"/>
              <a:ea typeface="Times New Roman"/>
              <a:cs typeface="Times New Roman"/>
              <a:sym typeface="Times New Roman"/>
            </a:endParaRPr>
          </a:p>
          <a:p>
            <a:pPr indent="0" lvl="0" marL="0" rtl="0" algn="just">
              <a:lnSpc>
                <a:spcPct val="100000"/>
              </a:lnSpc>
              <a:spcBef>
                <a:spcPts val="300"/>
              </a:spcBef>
              <a:spcAft>
                <a:spcPts val="0"/>
              </a:spcAft>
              <a:buNone/>
            </a:pPr>
            <a:r>
              <a:rPr b="1" lang="id" sz="900">
                <a:solidFill>
                  <a:schemeClr val="dk1"/>
                </a:solidFill>
                <a:latin typeface="Times New Roman"/>
                <a:ea typeface="Times New Roman"/>
                <a:cs typeface="Times New Roman"/>
                <a:sym typeface="Times New Roman"/>
              </a:rPr>
              <a:t>Purchase Intent &amp; Rating Analysis:</a:t>
            </a:r>
            <a:endParaRPr b="1" sz="900">
              <a:solidFill>
                <a:schemeClr val="dk1"/>
              </a:solidFill>
              <a:latin typeface="Times New Roman"/>
              <a:ea typeface="Times New Roman"/>
              <a:cs typeface="Times New Roman"/>
              <a:sym typeface="Times New Roman"/>
            </a:endParaRPr>
          </a:p>
          <a:p>
            <a:pPr indent="-285750" lvl="0" marL="457200" rtl="0" algn="just">
              <a:lnSpc>
                <a:spcPct val="100000"/>
              </a:lnSpc>
              <a:spcBef>
                <a:spcPts val="300"/>
              </a:spcBef>
              <a:spcAft>
                <a:spcPts val="0"/>
              </a:spcAft>
              <a:buClr>
                <a:schemeClr val="dk1"/>
              </a:buClr>
              <a:buSzPts val="900"/>
              <a:buChar char="●"/>
            </a:pPr>
            <a:r>
              <a:rPr b="1" lang="id" sz="900">
                <a:solidFill>
                  <a:schemeClr val="dk1"/>
                </a:solidFill>
                <a:latin typeface="Times New Roman"/>
                <a:ea typeface="Times New Roman"/>
                <a:cs typeface="Times New Roman"/>
                <a:sym typeface="Times New Roman"/>
              </a:rPr>
              <a:t>Rekomendasi Aksi:</a:t>
            </a:r>
            <a:r>
              <a:rPr lang="id" sz="900">
                <a:solidFill>
                  <a:schemeClr val="dk1"/>
                </a:solidFill>
                <a:latin typeface="Times New Roman"/>
                <a:ea typeface="Times New Roman"/>
                <a:cs typeface="Times New Roman"/>
                <a:sym typeface="Times New Roman"/>
              </a:rPr>
              <a:t> Untuk pembelian 'Impulsive', kelola ekspektasi dengan deskripsi produk yang akurat; untuk 'Planned', pastikan konsistensi kualitas.</a:t>
            </a:r>
            <a:endParaRPr sz="900">
              <a:solidFill>
                <a:schemeClr val="dk1"/>
              </a:solidFill>
              <a:latin typeface="Times New Roman"/>
              <a:ea typeface="Times New Roman"/>
              <a:cs typeface="Times New Roman"/>
              <a:sym typeface="Times New Roman"/>
            </a:endParaRPr>
          </a:p>
          <a:p>
            <a:pPr indent="0" lvl="0" marL="457200" rtl="0" algn="just">
              <a:lnSpc>
                <a:spcPct val="100000"/>
              </a:lnSpc>
              <a:spcBef>
                <a:spcPts val="300"/>
              </a:spcBef>
              <a:spcAft>
                <a:spcPts val="0"/>
              </a:spcAft>
              <a:buNone/>
            </a:pPr>
            <a:r>
              <a:t/>
            </a:r>
            <a:endParaRPr sz="900">
              <a:solidFill>
                <a:schemeClr val="dk1"/>
              </a:solidFill>
              <a:latin typeface="Times New Roman"/>
              <a:ea typeface="Times New Roman"/>
              <a:cs typeface="Times New Roman"/>
              <a:sym typeface="Times New Roman"/>
            </a:endParaRPr>
          </a:p>
          <a:p>
            <a:pPr indent="0" lvl="0" marL="0" rtl="0" algn="just">
              <a:lnSpc>
                <a:spcPct val="100000"/>
              </a:lnSpc>
              <a:spcBef>
                <a:spcPts val="300"/>
              </a:spcBef>
              <a:spcAft>
                <a:spcPts val="0"/>
              </a:spcAft>
              <a:buNone/>
            </a:pPr>
            <a:r>
              <a:rPr b="1" lang="id" sz="900">
                <a:solidFill>
                  <a:schemeClr val="dk1"/>
                </a:solidFill>
                <a:latin typeface="Times New Roman"/>
                <a:ea typeface="Times New Roman"/>
                <a:cs typeface="Times New Roman"/>
                <a:sym typeface="Times New Roman"/>
              </a:rPr>
              <a:t>High Value Customers Profiling:</a:t>
            </a:r>
            <a:endParaRPr b="1" sz="900">
              <a:solidFill>
                <a:schemeClr val="dk1"/>
              </a:solidFill>
              <a:latin typeface="Times New Roman"/>
              <a:ea typeface="Times New Roman"/>
              <a:cs typeface="Times New Roman"/>
              <a:sym typeface="Times New Roman"/>
            </a:endParaRPr>
          </a:p>
          <a:p>
            <a:pPr indent="-285750" lvl="0" marL="457200" rtl="0" algn="just">
              <a:lnSpc>
                <a:spcPct val="100000"/>
              </a:lnSpc>
              <a:spcBef>
                <a:spcPts val="300"/>
              </a:spcBef>
              <a:spcAft>
                <a:spcPts val="300"/>
              </a:spcAft>
              <a:buClr>
                <a:schemeClr val="dk1"/>
              </a:buClr>
              <a:buSzPts val="900"/>
              <a:buChar char="●"/>
            </a:pPr>
            <a:r>
              <a:rPr b="1" lang="id" sz="900">
                <a:solidFill>
                  <a:schemeClr val="dk1"/>
                </a:solidFill>
                <a:latin typeface="Times New Roman"/>
                <a:ea typeface="Times New Roman"/>
                <a:cs typeface="Times New Roman"/>
                <a:sym typeface="Times New Roman"/>
              </a:rPr>
              <a:t>Rekomendasi Aksi:</a:t>
            </a:r>
            <a:r>
              <a:rPr lang="id" sz="900">
                <a:solidFill>
                  <a:schemeClr val="dk1"/>
                </a:solidFill>
                <a:latin typeface="Times New Roman"/>
                <a:ea typeface="Times New Roman"/>
                <a:cs typeface="Times New Roman"/>
                <a:sym typeface="Times New Roman"/>
              </a:rPr>
              <a:t> Kembangkan kampanye pemasaran dan penawaran produk premium yang secara spesifik menargetkan pelanggan perempuan bernilai tinggi.</a:t>
            </a:r>
            <a:endParaRPr b="1" sz="900">
              <a:solidFill>
                <a:schemeClr val="dk1"/>
              </a:solidFill>
              <a:latin typeface="Times New Roman"/>
              <a:ea typeface="Times New Roman"/>
              <a:cs typeface="Times New Roman"/>
              <a:sym typeface="Times New Roman"/>
            </a:endParaRPr>
          </a:p>
        </p:txBody>
      </p:sp>
      <p:pic>
        <p:nvPicPr>
          <p:cNvPr id="117" name="Google Shape;117;p22"/>
          <p:cNvPicPr preferRelativeResize="0"/>
          <p:nvPr/>
        </p:nvPicPr>
        <p:blipFill>
          <a:blip r:embed="rId3">
            <a:alphaModFix/>
          </a:blip>
          <a:stretch>
            <a:fillRect/>
          </a:stretch>
        </p:blipFill>
        <p:spPr>
          <a:xfrm>
            <a:off x="93889" y="685375"/>
            <a:ext cx="4999826" cy="37727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23"/>
          <p:cNvSpPr txBox="1"/>
          <p:nvPr>
            <p:ph idx="4294967295" type="ctrTitle"/>
          </p:nvPr>
        </p:nvSpPr>
        <p:spPr>
          <a:xfrm>
            <a:off x="391550" y="1952550"/>
            <a:ext cx="8520600" cy="6192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id"/>
              <a:t>Terima Kasih</a:t>
            </a:r>
            <a:endParaRPr/>
          </a:p>
          <a:p>
            <a:pPr indent="0" lvl="0" marL="0" rtl="0" algn="ctr">
              <a:spcBef>
                <a:spcPts val="0"/>
              </a:spcBef>
              <a:spcAft>
                <a:spcPts val="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28" name="Google Shape;128;p2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